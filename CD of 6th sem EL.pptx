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libri (MS) Bold" charset="1" panose="020F0702030404030204"/>
      <p:regular r:id="rId22"/>
    </p:embeddedFont>
    <p:embeddedFont>
      <p:font typeface="TT Rounds Condensed" charset="1" panose="02000506030000020003"/>
      <p:regular r:id="rId23"/>
    </p:embeddedFont>
    <p:embeddedFont>
      <p:font typeface="Canva Sans Bold Italics" charset="1" panose="020B0803030501040103"/>
      <p:regular r:id="rId24"/>
    </p:embeddedFont>
    <p:embeddedFont>
      <p:font typeface="Canva Sans Bold" charset="1" panose="020B0803030501040103"/>
      <p:regular r:id="rId25"/>
    </p:embeddedFont>
    <p:embeddedFont>
      <p:font typeface="Canva Sans" charset="1" panose="020B0503030501040103"/>
      <p:regular r:id="rId26"/>
    </p:embeddedFont>
    <p:embeddedFont>
      <p:font typeface="Times New Roman" charset="1" panose="02020603050405020304"/>
      <p:regular r:id="rId27"/>
    </p:embeddedFont>
    <p:embeddedFont>
      <p:font typeface="League Spartan" charset="1" panose="00000800000000000000"/>
      <p:regular r:id="rId28"/>
    </p:embeddedFont>
    <p:embeddedFont>
      <p:font typeface="Times New Roman Bold" charset="1" panose="020208030705050203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641383" y="3516548"/>
            <a:ext cx="7005234" cy="3253904"/>
            <a:chOff x="0" y="0"/>
            <a:chExt cx="9340312" cy="4338539"/>
          </a:xfrm>
        </p:grpSpPr>
        <p:sp>
          <p:nvSpPr>
            <p:cNvPr name="Freeform 4" id="4"/>
            <p:cNvSpPr/>
            <p:nvPr/>
          </p:nvSpPr>
          <p:spPr>
            <a:xfrm flipH="false" flipV="false" rot="0">
              <a:off x="0" y="0"/>
              <a:ext cx="9340312" cy="4338539"/>
            </a:xfrm>
            <a:custGeom>
              <a:avLst/>
              <a:gdLst/>
              <a:ahLst/>
              <a:cxnLst/>
              <a:rect r="r" b="b" t="t" l="l"/>
              <a:pathLst>
                <a:path h="4338539" w="9340312">
                  <a:moveTo>
                    <a:pt x="0" y="0"/>
                  </a:moveTo>
                  <a:lnTo>
                    <a:pt x="9340312" y="0"/>
                  </a:lnTo>
                  <a:lnTo>
                    <a:pt x="9340312" y="4338539"/>
                  </a:lnTo>
                  <a:lnTo>
                    <a:pt x="0" y="4338539"/>
                  </a:lnTo>
                  <a:close/>
                </a:path>
              </a:pathLst>
            </a:custGeom>
            <a:blipFill>
              <a:blip r:embed="rId3">
                <a:alphaModFix amt="0"/>
              </a:blip>
              <a:stretch>
                <a:fillRect l="0" t="-42936" r="-82743" b="-10380"/>
              </a:stretch>
            </a:blipFill>
          </p:spPr>
        </p:sp>
        <p:sp>
          <p:nvSpPr>
            <p:cNvPr name="TextBox 5" id="5"/>
            <p:cNvSpPr txBox="true"/>
            <p:nvPr/>
          </p:nvSpPr>
          <p:spPr>
            <a:xfrm>
              <a:off x="0" y="-180975"/>
              <a:ext cx="9340312" cy="4519514"/>
            </a:xfrm>
            <a:prstGeom prst="rect">
              <a:avLst/>
            </a:prstGeom>
          </p:spPr>
          <p:txBody>
            <a:bodyPr anchor="ctr" rtlCol="false" tIns="0" lIns="0" bIns="0" rIns="0"/>
            <a:lstStyle/>
            <a:p>
              <a:pPr algn="l">
                <a:lnSpc>
                  <a:spcPts val="11040"/>
                </a:lnSpc>
              </a:pPr>
              <a:r>
                <a:rPr lang="en-US" b="true" sz="9200" spc="791">
                  <a:solidFill>
                    <a:srgbClr val="000000"/>
                  </a:solidFill>
                  <a:latin typeface="Calibri (MS) Bold"/>
                  <a:ea typeface="Calibri (MS) Bold"/>
                  <a:cs typeface="Calibri (MS) Bold"/>
                  <a:sym typeface="Calibri (MS) Bold"/>
                </a:rPr>
                <a:t>Ene</a:t>
              </a:r>
              <a:r>
                <a:rPr lang="en-US" b="true" sz="9200" spc="791">
                  <a:solidFill>
                    <a:srgbClr val="000000"/>
                  </a:solidFill>
                  <a:latin typeface="Calibri (MS) Bold"/>
                  <a:ea typeface="Calibri (MS) Bold"/>
                  <a:cs typeface="Calibri (MS) Bold"/>
                  <a:sym typeface="Calibri (MS) Bold"/>
                </a:rPr>
                <a:t>rgyWise</a:t>
              </a:r>
            </a:p>
            <a:p>
              <a:pPr algn="l">
                <a:lnSpc>
                  <a:spcPts val="11040"/>
                </a:lnSpc>
              </a:pPr>
            </a:p>
          </p:txBody>
        </p:sp>
      </p:grpSp>
      <p:grpSp>
        <p:nvGrpSpPr>
          <p:cNvPr name="Group 6" id="6"/>
          <p:cNvGrpSpPr/>
          <p:nvPr/>
        </p:nvGrpSpPr>
        <p:grpSpPr>
          <a:xfrm rot="0">
            <a:off x="4409268" y="4982976"/>
            <a:ext cx="9469464" cy="914400"/>
            <a:chOff x="0" y="0"/>
            <a:chExt cx="12625953" cy="1219200"/>
          </a:xfrm>
        </p:grpSpPr>
        <p:sp>
          <p:nvSpPr>
            <p:cNvPr name="Freeform 7" id="7"/>
            <p:cNvSpPr/>
            <p:nvPr/>
          </p:nvSpPr>
          <p:spPr>
            <a:xfrm flipH="false" flipV="false" rot="0">
              <a:off x="0" y="0"/>
              <a:ext cx="12625953" cy="1219200"/>
            </a:xfrm>
            <a:custGeom>
              <a:avLst/>
              <a:gdLst/>
              <a:ahLst/>
              <a:cxnLst/>
              <a:rect r="r" b="b" t="t" l="l"/>
              <a:pathLst>
                <a:path h="1219200" w="12625953">
                  <a:moveTo>
                    <a:pt x="0" y="0"/>
                  </a:moveTo>
                  <a:lnTo>
                    <a:pt x="12625953" y="0"/>
                  </a:lnTo>
                  <a:lnTo>
                    <a:pt x="12625953" y="1219200"/>
                  </a:lnTo>
                  <a:lnTo>
                    <a:pt x="0" y="1219200"/>
                  </a:lnTo>
                  <a:close/>
                </a:path>
              </a:pathLst>
            </a:custGeom>
            <a:blipFill>
              <a:blip r:embed="rId3">
                <a:alphaModFix amt="0"/>
              </a:blip>
              <a:stretch>
                <a:fillRect l="0" t="-242275" r="-44844" b="-242275"/>
              </a:stretch>
            </a:blipFill>
          </p:spPr>
        </p:sp>
        <p:sp>
          <p:nvSpPr>
            <p:cNvPr name="TextBox 8" id="8"/>
            <p:cNvSpPr txBox="true"/>
            <p:nvPr/>
          </p:nvSpPr>
          <p:spPr>
            <a:xfrm>
              <a:off x="0" y="0"/>
              <a:ext cx="12625953" cy="1219200"/>
            </a:xfrm>
            <a:prstGeom prst="rect">
              <a:avLst/>
            </a:prstGeom>
          </p:spPr>
          <p:txBody>
            <a:bodyPr anchor="ctr" rtlCol="false" tIns="0" lIns="0" bIns="0" rIns="0"/>
            <a:lstStyle/>
            <a:p>
              <a:pPr algn="l">
                <a:lnSpc>
                  <a:spcPts val="4320"/>
                </a:lnSpc>
              </a:pPr>
              <a:r>
                <a:rPr lang="en-US" sz="3600" spc="-21">
                  <a:solidFill>
                    <a:srgbClr val="14B8A6"/>
                  </a:solidFill>
                  <a:latin typeface="TT Rounds Condensed"/>
                  <a:ea typeface="TT Rounds Condensed"/>
                  <a:cs typeface="TT Rounds Condensed"/>
                  <a:sym typeface="TT Rounds Condensed"/>
                </a:rPr>
                <a:t>St</a:t>
              </a:r>
              <a:r>
                <a:rPr lang="en-US" sz="3600" spc="-21">
                  <a:solidFill>
                    <a:srgbClr val="14B8A6"/>
                  </a:solidFill>
                  <a:latin typeface="TT Rounds Condensed"/>
                  <a:ea typeface="TT Rounds Condensed"/>
                  <a:cs typeface="TT Rounds Condensed"/>
                  <a:sym typeface="TT Rounds Condensed"/>
                </a:rPr>
                <a:t>atic Energy Estimation Pass for RISC-V (rv32imc)</a:t>
              </a:r>
            </a:p>
          </p:txBody>
        </p:sp>
      </p:grpSp>
      <p:grpSp>
        <p:nvGrpSpPr>
          <p:cNvPr name="Group 9" id="9"/>
          <p:cNvGrpSpPr/>
          <p:nvPr/>
        </p:nvGrpSpPr>
        <p:grpSpPr>
          <a:xfrm rot="0">
            <a:off x="5213242" y="5748311"/>
            <a:ext cx="7433375" cy="909228"/>
            <a:chOff x="0" y="0"/>
            <a:chExt cx="9911166" cy="1212304"/>
          </a:xfrm>
        </p:grpSpPr>
        <p:sp>
          <p:nvSpPr>
            <p:cNvPr name="Freeform 10" id="10"/>
            <p:cNvSpPr/>
            <p:nvPr/>
          </p:nvSpPr>
          <p:spPr>
            <a:xfrm flipH="false" flipV="false" rot="0">
              <a:off x="0" y="0"/>
              <a:ext cx="9911166" cy="1212304"/>
            </a:xfrm>
            <a:custGeom>
              <a:avLst/>
              <a:gdLst/>
              <a:ahLst/>
              <a:cxnLst/>
              <a:rect r="r" b="b" t="t" l="l"/>
              <a:pathLst>
                <a:path h="1212304" w="9911166">
                  <a:moveTo>
                    <a:pt x="0" y="0"/>
                  </a:moveTo>
                  <a:lnTo>
                    <a:pt x="9911166" y="0"/>
                  </a:lnTo>
                  <a:lnTo>
                    <a:pt x="9911166" y="1212304"/>
                  </a:lnTo>
                  <a:lnTo>
                    <a:pt x="0" y="1212304"/>
                  </a:lnTo>
                  <a:close/>
                </a:path>
              </a:pathLst>
            </a:custGeom>
            <a:blipFill>
              <a:blip r:embed="rId3">
                <a:alphaModFix amt="0"/>
              </a:blip>
              <a:stretch>
                <a:fillRect l="0" t="-317526" r="-121422" b="-287924"/>
              </a:stretch>
            </a:blipFill>
          </p:spPr>
        </p:sp>
        <p:sp>
          <p:nvSpPr>
            <p:cNvPr name="TextBox 11" id="11"/>
            <p:cNvSpPr txBox="true"/>
            <p:nvPr/>
          </p:nvSpPr>
          <p:spPr>
            <a:xfrm>
              <a:off x="0" y="-57150"/>
              <a:ext cx="9911166" cy="1269454"/>
            </a:xfrm>
            <a:prstGeom prst="rect">
              <a:avLst/>
            </a:prstGeom>
          </p:spPr>
          <p:txBody>
            <a:bodyPr anchor="ctr" rtlCol="false" tIns="0" lIns="0" bIns="0" rIns="0"/>
            <a:lstStyle/>
            <a:p>
              <a:pPr algn="l">
                <a:lnSpc>
                  <a:spcPts val="3120"/>
                </a:lnSpc>
              </a:pPr>
              <a:r>
                <a:rPr lang="en-US" sz="2600" b="true">
                  <a:solidFill>
                    <a:srgbClr val="000000"/>
                  </a:solidFill>
                  <a:latin typeface="Calibri (MS) Bold"/>
                  <a:ea typeface="Calibri (MS) Bold"/>
                  <a:cs typeface="Calibri (MS) Bold"/>
                  <a:sym typeface="Calibri (MS) Bold"/>
                </a:rPr>
                <a:t>Co</a:t>
              </a:r>
              <a:r>
                <a:rPr lang="en-US" sz="2600" b="true">
                  <a:solidFill>
                    <a:srgbClr val="000000"/>
                  </a:solidFill>
                  <a:latin typeface="Calibri (MS) Bold"/>
                  <a:ea typeface="Calibri (MS) Bold"/>
                  <a:cs typeface="Calibri (MS) Bold"/>
                  <a:sym typeface="Calibri (MS) Bold"/>
                </a:rPr>
                <a:t>urse: CS363IA — Compiler Design Lab (Semester VI)</a:t>
              </a:r>
            </a:p>
            <a:p>
              <a:pPr algn="l">
                <a:lnSpc>
                  <a:spcPts val="312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156000" y="1028700"/>
            <a:ext cx="5976000" cy="1080600"/>
            <a:chOff x="0" y="0"/>
            <a:chExt cx="7968000" cy="1440800"/>
          </a:xfrm>
        </p:grpSpPr>
        <p:sp>
          <p:nvSpPr>
            <p:cNvPr name="Freeform 4" id="4"/>
            <p:cNvSpPr/>
            <p:nvPr/>
          </p:nvSpPr>
          <p:spPr>
            <a:xfrm flipH="false" flipV="false" rot="0">
              <a:off x="0" y="0"/>
              <a:ext cx="7968000" cy="1440800"/>
            </a:xfrm>
            <a:custGeom>
              <a:avLst/>
              <a:gdLst/>
              <a:ahLst/>
              <a:cxnLst/>
              <a:rect r="r" b="b" t="t" l="l"/>
              <a:pathLst>
                <a:path h="1440800" w="7968000">
                  <a:moveTo>
                    <a:pt x="0" y="0"/>
                  </a:moveTo>
                  <a:lnTo>
                    <a:pt x="7968000" y="0"/>
                  </a:lnTo>
                  <a:lnTo>
                    <a:pt x="7968000" y="1440800"/>
                  </a:lnTo>
                  <a:lnTo>
                    <a:pt x="0" y="1440800"/>
                  </a:lnTo>
                  <a:close/>
                </a:path>
              </a:pathLst>
            </a:custGeom>
          </p:spPr>
        </p:sp>
        <p:sp>
          <p:nvSpPr>
            <p:cNvPr name="TextBox 5" id="5"/>
            <p:cNvSpPr txBox="true"/>
            <p:nvPr/>
          </p:nvSpPr>
          <p:spPr>
            <a:xfrm>
              <a:off x="0" y="0"/>
              <a:ext cx="7968000" cy="1440800"/>
            </a:xfrm>
            <a:prstGeom prst="rect">
              <a:avLst/>
            </a:prstGeom>
          </p:spPr>
          <p:txBody>
            <a:bodyPr anchor="t" rtlCol="false" tIns="0" lIns="0" bIns="0" rIns="0"/>
            <a:lstStyle/>
            <a:p>
              <a:pPr algn="ctr">
                <a:lnSpc>
                  <a:spcPts val="4560"/>
                </a:lnSpc>
              </a:pPr>
              <a:r>
                <a:rPr lang="en-US" b="true" sz="3800" i="true">
                  <a:solidFill>
                    <a:srgbClr val="083C92"/>
                  </a:solidFill>
                  <a:latin typeface="Canva Sans Bold Italics"/>
                  <a:ea typeface="Canva Sans Bold Italics"/>
                  <a:cs typeface="Canva Sans Bold Italics"/>
                  <a:sym typeface="Canva Sans Bold Italics"/>
                </a:rPr>
                <a:t>Our Team</a:t>
              </a:r>
            </a:p>
          </p:txBody>
        </p:sp>
      </p:grpSp>
      <p:graphicFrame>
        <p:nvGraphicFramePr>
          <p:cNvPr name="Table 6" id="6"/>
          <p:cNvGraphicFramePr>
            <a:graphicFrameLocks noGrp="true"/>
          </p:cNvGraphicFramePr>
          <p:nvPr/>
        </p:nvGraphicFramePr>
        <p:xfrm>
          <a:off x="3044432" y="2931207"/>
          <a:ext cx="12466334" cy="4181475"/>
        </p:xfrm>
        <a:graphic>
          <a:graphicData uri="http://schemas.openxmlformats.org/drawingml/2006/table">
            <a:tbl>
              <a:tblPr/>
              <a:tblGrid>
                <a:gridCol w="3281169"/>
                <a:gridCol w="1744169"/>
                <a:gridCol w="3281169"/>
                <a:gridCol w="4159828"/>
              </a:tblGrid>
              <a:tr h="1028547">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Name</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solidFill>
                      <a:srgbClr val="DECDFF"/>
                    </a:solidFill>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Branch</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solidFill>
                      <a:srgbClr val="DECDFF"/>
                    </a:solidFill>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USN</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solidFill>
                      <a:srgbClr val="DECDFF"/>
                    </a:solidFill>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Email</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solidFill>
                      <a:srgbClr val="DECDFF"/>
                    </a:solidFill>
                  </a:tcPr>
                </a:tc>
              </a:tr>
              <a:tr h="1028547">
                <a:tc>
                  <a:txBody>
                    <a:bodyPr anchor="t" rtlCol="false"/>
                    <a:lstStyle/>
                    <a:p>
                      <a:pPr algn="ctr">
                        <a:lnSpc>
                          <a:spcPts val="2520"/>
                        </a:lnSpc>
                        <a:defRPr/>
                      </a:pPr>
                      <a:r>
                        <a:rPr lang="en-US" sz="1800">
                          <a:solidFill>
                            <a:srgbClr val="000000"/>
                          </a:solidFill>
                          <a:latin typeface="Canva Sans"/>
                          <a:ea typeface="Canva Sans"/>
                          <a:cs typeface="Canva Sans"/>
                          <a:sym typeface="Canva Sans"/>
                        </a:rPr>
                        <a:t>Astitwa Tanmay</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CS</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1RV23CS056</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astitwatanmay.cs23@gmail.com</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r>
              <a:tr h="1028547">
                <a:tc>
                  <a:txBody>
                    <a:bodyPr anchor="t" rtlCol="false"/>
                    <a:lstStyle/>
                    <a:p>
                      <a:pPr algn="ctr">
                        <a:lnSpc>
                          <a:spcPts val="2520"/>
                        </a:lnSpc>
                        <a:defRPr/>
                      </a:pPr>
                      <a:r>
                        <a:rPr lang="en-US" sz="1800">
                          <a:solidFill>
                            <a:srgbClr val="000000"/>
                          </a:solidFill>
                          <a:latin typeface="Canva Sans"/>
                          <a:ea typeface="Canva Sans"/>
                          <a:cs typeface="Canva Sans"/>
                          <a:sym typeface="Canva Sans"/>
                        </a:rPr>
                        <a:t>Ayush Aman</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CS</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1RV23CS059</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ayushaman.cs23@gmail.com</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r>
              <a:tr h="1095835">
                <a:tc>
                  <a:txBody>
                    <a:bodyPr anchor="t" rtlCol="false"/>
                    <a:lstStyle/>
                    <a:p>
                      <a:pPr algn="ctr">
                        <a:lnSpc>
                          <a:spcPts val="2520"/>
                        </a:lnSpc>
                        <a:defRPr/>
                      </a:pPr>
                      <a:r>
                        <a:rPr lang="en-US" sz="1800">
                          <a:solidFill>
                            <a:srgbClr val="000000"/>
                          </a:solidFill>
                          <a:latin typeface="Canva Sans"/>
                          <a:ea typeface="Canva Sans"/>
                          <a:cs typeface="Canva Sans"/>
                          <a:sym typeface="Canva Sans"/>
                        </a:rPr>
                        <a:t>Bhargavi Subray Bhat </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CS</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1RV24CS404</a:t>
                      </a:r>
                      <a:endParaRPr lang="en-US" sz="1100"/>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bhargavisb.cs24@rvce.edu.in</a:t>
                      </a:r>
                      <a:endParaRPr lang="en-US" sz="1100"/>
                    </a:p>
                    <a:p>
                      <a:pPr algn="ctr">
                        <a:lnSpc>
                          <a:spcPts val="2520"/>
                        </a:lnSpc>
                      </a:pPr>
                    </a:p>
                  </a:txBody>
                  <a:tcPr marL="190500" marR="190500" marT="190500" marB="190500" anchor="ctr">
                    <a:lnL cmpd="sng" algn="ctr" cap="flat" w="38100">
                      <a:solidFill>
                        <a:srgbClr val="BB99FF"/>
                      </a:solidFill>
                      <a:prstDash val="solid"/>
                      <a:round/>
                      <a:headEnd type="none" w="med" len="med"/>
                      <a:tailEnd type="none" w="med" len="med"/>
                    </a:lnL>
                    <a:lnR cmpd="sng" algn="ctr" cap="flat" w="38100">
                      <a:solidFill>
                        <a:srgbClr val="BB99FF"/>
                      </a:solidFill>
                      <a:prstDash val="solid"/>
                      <a:round/>
                      <a:headEnd type="none" w="med" len="med"/>
                      <a:tailEnd type="none" w="med" len="med"/>
                    </a:lnR>
                    <a:lnT cmpd="sng" algn="ctr" cap="flat" w="38100">
                      <a:solidFill>
                        <a:srgbClr val="BB99FF"/>
                      </a:solidFill>
                      <a:prstDash val="solid"/>
                      <a:round/>
                      <a:headEnd type="none" w="med" len="med"/>
                      <a:tailEnd type="none" w="med" len="med"/>
                    </a:lnT>
                    <a:lnB cmpd="sng" algn="ctr" cap="flat" w="38100">
                      <a:solidFill>
                        <a:srgbClr val="BB99FF"/>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192224" y="3032125"/>
            <a:ext cx="13163952" cy="5270500"/>
          </a:xfrm>
          <a:prstGeom prst="rect">
            <a:avLst/>
          </a:prstGeom>
        </p:spPr>
        <p:txBody>
          <a:bodyPr anchor="t" rtlCol="false" tIns="0" lIns="0" bIns="0" rIns="0">
            <a:spAutoFit/>
          </a:bodyPr>
          <a:lstStyle/>
          <a:p>
            <a:pPr algn="just">
              <a:lnSpc>
                <a:spcPts val="4699"/>
              </a:lnSpc>
            </a:pPr>
            <a:r>
              <a:rPr lang="en-US" sz="2499">
                <a:solidFill>
                  <a:srgbClr val="000000"/>
                </a:solidFill>
                <a:latin typeface="Times New Roman"/>
                <a:ea typeface="Times New Roman"/>
                <a:cs typeface="Times New Roman"/>
                <a:sym typeface="Times New Roman"/>
              </a:rPr>
              <a:t>In mode</a:t>
            </a:r>
            <a:r>
              <a:rPr lang="en-US" sz="2499">
                <a:solidFill>
                  <a:srgbClr val="000000"/>
                </a:solidFill>
                <a:latin typeface="Times New Roman"/>
                <a:ea typeface="Times New Roman"/>
                <a:cs typeface="Times New Roman"/>
                <a:sym typeface="Times New Roman"/>
              </a:rPr>
              <a:t>rn embedded and IoT computing, software optimization heavily impacts battery life and energy efficiency. Traditional methods for measuring energy consumption require expensive physical hardware or slow, cycle-accurate simulation frameworks that take hours to run. To bridge this gap, we introduce EnergyWise a completely static LLVM compiler pass that estimates program energy consumption directly in nanojoules ($nJ$) without code execution. Explicitly targeting the open-source RISC-V rv32imc core, our system analyzes code loops, handles memory locality context, and accounts for branch misprediction penalties at compile time. Ultimately, this framework provides developers with instant, actionable feedback to identify energy hot-spots and rank compiler optimizations early in the design cycle </a:t>
            </a:r>
          </a:p>
        </p:txBody>
      </p:sp>
      <p:sp>
        <p:nvSpPr>
          <p:cNvPr name="TextBox 4" id="4"/>
          <p:cNvSpPr txBox="true"/>
          <p:nvPr/>
        </p:nvSpPr>
        <p:spPr>
          <a:xfrm rot="0">
            <a:off x="4930496" y="1623967"/>
            <a:ext cx="4843703" cy="738505"/>
          </a:xfrm>
          <a:prstGeom prst="rect">
            <a:avLst/>
          </a:prstGeom>
        </p:spPr>
        <p:txBody>
          <a:bodyPr anchor="t" rtlCol="false" tIns="0" lIns="0" bIns="0" rIns="0">
            <a:spAutoFit/>
          </a:bodyPr>
          <a:lstStyle/>
          <a:p>
            <a:pPr algn="l">
              <a:lnSpc>
                <a:spcPts val="6019"/>
              </a:lnSpc>
              <a:spcBef>
                <a:spcPct val="0"/>
              </a:spcBef>
            </a:pPr>
            <a:r>
              <a:rPr lang="en-US" sz="4299">
                <a:solidFill>
                  <a:srgbClr val="000000"/>
                </a:solidFill>
                <a:latin typeface="League Spartan"/>
                <a:ea typeface="League Spartan"/>
                <a:cs typeface="League Spartan"/>
                <a:sym typeface="League Spartan"/>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318749" y="2755718"/>
            <a:ext cx="13650501" cy="5231130"/>
          </a:xfrm>
          <a:prstGeom prst="rect">
            <a:avLst/>
          </a:prstGeom>
        </p:spPr>
        <p:txBody>
          <a:bodyPr anchor="t" rtlCol="false" tIns="0" lIns="0" bIns="0" rIns="0">
            <a:spAutoFit/>
          </a:bodyPr>
          <a:lstStyle/>
          <a:p>
            <a:pPr algn="just" marL="712470" indent="-356235" lvl="1">
              <a:lnSpc>
                <a:spcPts val="4620"/>
              </a:lnSpc>
              <a:spcBef>
                <a:spcPct val="0"/>
              </a:spcBef>
              <a:buFont typeface="Arial"/>
              <a:buChar char="•"/>
            </a:pPr>
            <a:r>
              <a:rPr lang="en-US" b="true" sz="3300">
                <a:solidFill>
                  <a:srgbClr val="000000"/>
                </a:solidFill>
                <a:latin typeface="Times New Roman Bold"/>
                <a:ea typeface="Times New Roman Bold"/>
                <a:cs typeface="Times New Roman Bold"/>
                <a:sym typeface="Times New Roman Bold"/>
              </a:rPr>
              <a:t>Battery Constraints:</a:t>
            </a:r>
            <a:r>
              <a:rPr lang="en-US" sz="3300">
                <a:solidFill>
                  <a:srgbClr val="000000"/>
                </a:solidFill>
                <a:latin typeface="Times New Roman"/>
                <a:ea typeface="Times New Roman"/>
                <a:cs typeface="Times New Roman"/>
                <a:sym typeface="Times New Roman"/>
              </a:rPr>
              <a:t> I</a:t>
            </a:r>
            <a:r>
              <a:rPr lang="en-US" sz="3300">
                <a:solidFill>
                  <a:srgbClr val="000000"/>
                </a:solidFill>
                <a:latin typeface="Times New Roman"/>
                <a:ea typeface="Times New Roman"/>
                <a:cs typeface="Times New Roman"/>
                <a:sym typeface="Times New Roman"/>
              </a:rPr>
              <a:t>oT edge nodes operate under strict energy budgets, where software structure heavily impacts device battery life.</a:t>
            </a:r>
          </a:p>
          <a:p>
            <a:pPr algn="just">
              <a:lnSpc>
                <a:spcPts val="4620"/>
              </a:lnSpc>
              <a:spcBef>
                <a:spcPct val="0"/>
              </a:spcBef>
            </a:pPr>
          </a:p>
          <a:p>
            <a:pPr algn="just" marL="712470" indent="-356235" lvl="1">
              <a:lnSpc>
                <a:spcPts val="4620"/>
              </a:lnSpc>
              <a:spcBef>
                <a:spcPct val="0"/>
              </a:spcBef>
              <a:buFont typeface="Arial"/>
              <a:buChar char="•"/>
            </a:pPr>
            <a:r>
              <a:rPr lang="en-US" b="true" sz="3300">
                <a:solidFill>
                  <a:srgbClr val="000000"/>
                </a:solidFill>
                <a:latin typeface="Times New Roman Bold"/>
                <a:ea typeface="Times New Roman Bold"/>
                <a:cs typeface="Times New Roman Bold"/>
                <a:sym typeface="Times New Roman Bold"/>
              </a:rPr>
              <a:t>Slow Simulations:</a:t>
            </a:r>
            <a:r>
              <a:rPr lang="en-US" sz="3300">
                <a:solidFill>
                  <a:srgbClr val="000000"/>
                </a:solidFill>
                <a:latin typeface="Times New Roman"/>
                <a:ea typeface="Times New Roman"/>
                <a:cs typeface="Times New Roman"/>
                <a:sym typeface="Times New Roman"/>
              </a:rPr>
              <a:t> Existing methods require physical hardware setups or extremely slow simulators (like gem5) that take hours to run.</a:t>
            </a:r>
          </a:p>
          <a:p>
            <a:pPr algn="just">
              <a:lnSpc>
                <a:spcPts val="4620"/>
              </a:lnSpc>
              <a:spcBef>
                <a:spcPct val="0"/>
              </a:spcBef>
            </a:pPr>
          </a:p>
          <a:p>
            <a:pPr algn="just" marL="712470" indent="-356235" lvl="1">
              <a:lnSpc>
                <a:spcPts val="4620"/>
              </a:lnSpc>
              <a:spcBef>
                <a:spcPct val="0"/>
              </a:spcBef>
              <a:buFont typeface="Arial"/>
              <a:buChar char="•"/>
            </a:pPr>
            <a:r>
              <a:rPr lang="en-US" b="true" sz="3300">
                <a:solidFill>
                  <a:srgbClr val="000000"/>
                </a:solidFill>
                <a:latin typeface="Times New Roman Bold"/>
                <a:ea typeface="Times New Roman Bold"/>
                <a:cs typeface="Times New Roman Bold"/>
                <a:sym typeface="Times New Roman Bold"/>
              </a:rPr>
              <a:t>Context Blindness:</a:t>
            </a:r>
            <a:r>
              <a:rPr lang="en-US" sz="3300">
                <a:solidFill>
                  <a:srgbClr val="000000"/>
                </a:solidFill>
                <a:latin typeface="Times New Roman"/>
                <a:ea typeface="Times New Roman"/>
                <a:cs typeface="Times New Roman"/>
                <a:sym typeface="Times New Roman"/>
              </a:rPr>
              <a:t> Current static tools treat every instruction as a flat cost, completely ignoring cache hits/misses and pipeline switching hazards.</a:t>
            </a:r>
          </a:p>
          <a:p>
            <a:pPr algn="just">
              <a:lnSpc>
                <a:spcPts val="4620"/>
              </a:lnSpc>
              <a:spcBef>
                <a:spcPct val="0"/>
              </a:spcBef>
            </a:pPr>
          </a:p>
        </p:txBody>
      </p:sp>
      <p:sp>
        <p:nvSpPr>
          <p:cNvPr name="TextBox 4" id="4"/>
          <p:cNvSpPr txBox="true"/>
          <p:nvPr/>
        </p:nvSpPr>
        <p:spPr>
          <a:xfrm rot="0">
            <a:off x="4475398" y="1623967"/>
            <a:ext cx="7523751" cy="738505"/>
          </a:xfrm>
          <a:prstGeom prst="rect">
            <a:avLst/>
          </a:prstGeom>
        </p:spPr>
        <p:txBody>
          <a:bodyPr anchor="t" rtlCol="false" tIns="0" lIns="0" bIns="0" rIns="0">
            <a:spAutoFit/>
          </a:bodyPr>
          <a:lstStyle/>
          <a:p>
            <a:pPr algn="l">
              <a:lnSpc>
                <a:spcPts val="6019"/>
              </a:lnSpc>
              <a:spcBef>
                <a:spcPct val="0"/>
              </a:spcBef>
            </a:pPr>
            <a:r>
              <a:rPr lang="en-US" sz="4299">
                <a:solidFill>
                  <a:srgbClr val="000000"/>
                </a:solidFill>
                <a:latin typeface="League Spartan"/>
                <a:ea typeface="League Spartan"/>
                <a:cs typeface="League Spartan"/>
                <a:sym typeface="League Spartan"/>
              </a:rPr>
              <a:t>Problem Statement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926969" y="2595145"/>
            <a:ext cx="13152520" cy="6858635"/>
          </a:xfrm>
          <a:prstGeom prst="rect">
            <a:avLst/>
          </a:prstGeom>
        </p:spPr>
        <p:txBody>
          <a:bodyPr anchor="t" rtlCol="false" tIns="0" lIns="0" bIns="0" rIns="0">
            <a:spAutoFit/>
          </a:bodyPr>
          <a:lstStyle/>
          <a:p>
            <a:pPr algn="l" marL="561341" indent="-280670" lvl="1">
              <a:lnSpc>
                <a:spcPts val="3640"/>
              </a:lnSpc>
              <a:spcBef>
                <a:spcPct val="0"/>
              </a:spcBef>
              <a:buFont typeface="Arial"/>
              <a:buChar char="•"/>
            </a:pPr>
            <a:r>
              <a:rPr lang="en-US" b="true" sz="2600">
                <a:solidFill>
                  <a:srgbClr val="000000"/>
                </a:solidFill>
                <a:latin typeface="Times New Roman Bold"/>
                <a:ea typeface="Times New Roman Bold"/>
                <a:cs typeface="Times New Roman Bold"/>
                <a:sym typeface="Times New Roman Bold"/>
              </a:rPr>
              <a:t>Statically P</a:t>
            </a:r>
            <a:r>
              <a:rPr lang="en-US" b="true" sz="2600">
                <a:solidFill>
                  <a:srgbClr val="000000"/>
                </a:solidFill>
                <a:latin typeface="Times New Roman Bold"/>
                <a:ea typeface="Times New Roman Bold"/>
                <a:cs typeface="Times New Roman Bold"/>
                <a:sym typeface="Times New Roman Bold"/>
              </a:rPr>
              <a:t>redict Energy:</a:t>
            </a:r>
            <a:r>
              <a:rPr lang="en-US" sz="2600">
                <a:solidFill>
                  <a:srgbClr val="000000"/>
                </a:solidFill>
                <a:latin typeface="Times New Roman"/>
                <a:ea typeface="Times New Roman"/>
                <a:cs typeface="Times New Roman"/>
                <a:sym typeface="Times New Roman"/>
              </a:rPr>
              <a:t> Compute exact code energy footprints in nanojoules ($nJ$) directly from LLVM IR, completely eliminating the need for physical hardware or active runtimes.</a:t>
            </a:r>
          </a:p>
          <a:p>
            <a:pPr algn="l">
              <a:lnSpc>
                <a:spcPts val="3640"/>
              </a:lnSpc>
              <a:spcBef>
                <a:spcPct val="0"/>
              </a:spcBef>
            </a:pPr>
          </a:p>
          <a:p>
            <a:pPr algn="l" marL="561341" indent="-280670" lvl="1">
              <a:lnSpc>
                <a:spcPts val="3640"/>
              </a:lnSpc>
              <a:spcBef>
                <a:spcPct val="0"/>
              </a:spcBef>
              <a:buFont typeface="Arial"/>
              <a:buChar char="•"/>
            </a:pPr>
            <a:r>
              <a:rPr lang="en-US" b="true" sz="2600">
                <a:solidFill>
                  <a:srgbClr val="000000"/>
                </a:solidFill>
                <a:latin typeface="Times New Roman Bold"/>
                <a:ea typeface="Times New Roman Bold"/>
                <a:cs typeface="Times New Roman Bold"/>
                <a:sym typeface="Times New Roman Bold"/>
              </a:rPr>
              <a:t>Model Pipeline Context:</a:t>
            </a:r>
            <a:r>
              <a:rPr lang="en-US" sz="2600">
                <a:solidFill>
                  <a:srgbClr val="000000"/>
                </a:solidFill>
                <a:latin typeface="Times New Roman"/>
                <a:ea typeface="Times New Roman"/>
                <a:cs typeface="Times New Roman"/>
                <a:sym typeface="Times New Roman"/>
              </a:rPr>
              <a:t> Integrate dynamic hardware realities—specifically operand switching variables, loop memory reuse distance, and branch misprediction stalls—directly into a static framework.</a:t>
            </a:r>
          </a:p>
          <a:p>
            <a:pPr algn="l">
              <a:lnSpc>
                <a:spcPts val="3640"/>
              </a:lnSpc>
              <a:spcBef>
                <a:spcPct val="0"/>
              </a:spcBef>
            </a:pPr>
          </a:p>
          <a:p>
            <a:pPr algn="l" marL="561341" indent="-280670" lvl="1">
              <a:lnSpc>
                <a:spcPts val="3640"/>
              </a:lnSpc>
              <a:spcBef>
                <a:spcPct val="0"/>
              </a:spcBef>
              <a:buFont typeface="Arial"/>
              <a:buChar char="•"/>
            </a:pPr>
            <a:r>
              <a:rPr lang="en-US" b="true" sz="2600">
                <a:solidFill>
                  <a:srgbClr val="000000"/>
                </a:solidFill>
                <a:latin typeface="Times New Roman Bold"/>
                <a:ea typeface="Times New Roman Bold"/>
                <a:cs typeface="Times New Roman Bold"/>
                <a:sym typeface="Times New Roman Bold"/>
              </a:rPr>
              <a:t>Rank Code Transformations:</a:t>
            </a:r>
            <a:r>
              <a:rPr lang="en-US" sz="2600">
                <a:solidFill>
                  <a:srgbClr val="000000"/>
                </a:solidFill>
                <a:latin typeface="Times New Roman"/>
                <a:ea typeface="Times New Roman"/>
                <a:cs typeface="Times New Roman"/>
                <a:sym typeface="Times New Roman"/>
              </a:rPr>
              <a:t> Automatically compare and rank optimized code variants (such as loop unrolling, tiling, and strength reduction) to mathematically guarantee energy reduction.</a:t>
            </a:r>
          </a:p>
          <a:p>
            <a:pPr algn="l">
              <a:lnSpc>
                <a:spcPts val="3640"/>
              </a:lnSpc>
              <a:spcBef>
                <a:spcPct val="0"/>
              </a:spcBef>
            </a:pPr>
          </a:p>
          <a:p>
            <a:pPr algn="l" marL="561341" indent="-280670" lvl="1">
              <a:lnSpc>
                <a:spcPts val="3640"/>
              </a:lnSpc>
              <a:spcBef>
                <a:spcPct val="0"/>
              </a:spcBef>
              <a:buFont typeface="Arial"/>
              <a:buChar char="•"/>
            </a:pPr>
            <a:r>
              <a:rPr lang="en-US" b="true" sz="2600">
                <a:solidFill>
                  <a:srgbClr val="000000"/>
                </a:solidFill>
                <a:latin typeface="Times New Roman Bold"/>
                <a:ea typeface="Times New Roman Bold"/>
                <a:cs typeface="Times New Roman Bold"/>
                <a:sym typeface="Times New Roman Bold"/>
              </a:rPr>
              <a:t>Ultimate Goal:</a:t>
            </a:r>
            <a:r>
              <a:rPr lang="en-US" sz="2600">
                <a:solidFill>
                  <a:srgbClr val="000000"/>
                </a:solidFill>
                <a:latin typeface="Times New Roman"/>
                <a:ea typeface="Times New Roman"/>
                <a:cs typeface="Times New Roman"/>
                <a:sym typeface="Times New Roman"/>
              </a:rPr>
              <a:t> To bridge the gap between fast static compilation and accurate physical power profiling for sustainable embedded software.</a:t>
            </a:r>
          </a:p>
          <a:p>
            <a:pPr algn="l">
              <a:lnSpc>
                <a:spcPts val="3640"/>
              </a:lnSpc>
              <a:spcBef>
                <a:spcPct val="0"/>
              </a:spcBef>
            </a:pPr>
          </a:p>
        </p:txBody>
      </p:sp>
      <p:sp>
        <p:nvSpPr>
          <p:cNvPr name="TextBox 4" id="4"/>
          <p:cNvSpPr txBox="true"/>
          <p:nvPr/>
        </p:nvSpPr>
        <p:spPr>
          <a:xfrm rot="0">
            <a:off x="3712496" y="1623967"/>
            <a:ext cx="7523751" cy="1500505"/>
          </a:xfrm>
          <a:prstGeom prst="rect">
            <a:avLst/>
          </a:prstGeom>
        </p:spPr>
        <p:txBody>
          <a:bodyPr anchor="t" rtlCol="false" tIns="0" lIns="0" bIns="0" rIns="0">
            <a:spAutoFit/>
          </a:bodyPr>
          <a:lstStyle/>
          <a:p>
            <a:pPr algn="l">
              <a:lnSpc>
                <a:spcPts val="6019"/>
              </a:lnSpc>
            </a:pPr>
            <a:r>
              <a:rPr lang="en-US" sz="4299">
                <a:solidFill>
                  <a:srgbClr val="000000"/>
                </a:solidFill>
                <a:latin typeface="League Spartan"/>
                <a:ea typeface="League Spartan"/>
                <a:cs typeface="League Spartan"/>
                <a:sym typeface="League Spartan"/>
              </a:rPr>
              <a:t>Objectives</a:t>
            </a:r>
          </a:p>
          <a:p>
            <a:pPr algn="l">
              <a:lnSpc>
                <a:spcPts val="601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2282437" y="1952625"/>
          <a:ext cx="14650291" cy="7336985"/>
        </p:xfrm>
        <a:graphic>
          <a:graphicData uri="http://schemas.openxmlformats.org/drawingml/2006/table">
            <a:tbl>
              <a:tblPr/>
              <a:tblGrid>
                <a:gridCol w="4320461"/>
                <a:gridCol w="4756900"/>
                <a:gridCol w="5572931"/>
              </a:tblGrid>
              <a:tr h="967229">
                <a:tc>
                  <a:txBody>
                    <a:bodyPr anchor="t" rtlCol="false"/>
                    <a:lstStyle/>
                    <a:p>
                      <a:pPr algn="ctr">
                        <a:lnSpc>
                          <a:spcPts val="3079"/>
                        </a:lnSpc>
                        <a:defRPr/>
                      </a:pPr>
                      <a:r>
                        <a:rPr lang="en-US" sz="2199" b="true">
                          <a:solidFill>
                            <a:srgbClr val="000000"/>
                          </a:solidFill>
                          <a:latin typeface="Times New Roman Bold"/>
                          <a:ea typeface="Times New Roman Bold"/>
                          <a:cs typeface="Times New Roman Bold"/>
                          <a:sym typeface="Times New Roman Bold"/>
                        </a:rPr>
                        <a:t>Technique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3079"/>
                        </a:lnSpc>
                        <a:defRPr/>
                      </a:pPr>
                      <a:r>
                        <a:rPr lang="en-US" sz="2199" b="true">
                          <a:solidFill>
                            <a:srgbClr val="000000"/>
                          </a:solidFill>
                          <a:latin typeface="Times New Roman Bold"/>
                          <a:ea typeface="Times New Roman Bold"/>
                          <a:cs typeface="Times New Roman Bold"/>
                          <a:sym typeface="Times New Roman Bold"/>
                        </a:rPr>
                        <a:t>How it works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3079"/>
                        </a:lnSpc>
                        <a:defRPr/>
                      </a:pPr>
                      <a:r>
                        <a:rPr lang="en-US" sz="2199" b="true">
                          <a:solidFill>
                            <a:srgbClr val="000000"/>
                          </a:solidFill>
                          <a:latin typeface="Times New Roman Bold"/>
                          <a:ea typeface="Times New Roman Bold"/>
                          <a:cs typeface="Times New Roman Bold"/>
                          <a:sym typeface="Times New Roman Bold"/>
                        </a:rPr>
                        <a:t>Key Drawback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1594333">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Cycle-accurate sim (gem5 + McPAT)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Full functional + micro-architectural simulation of every cycle.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Hours per run; needs proprietary models; not a compile-time pass.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1590545">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Flat instruction counting (Tiwari)</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Static per-opcode energy table summed over the program.</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Context-blind: identical estimate for very different memory behaviour.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1594333">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Operand-level (Steinke 2001)</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Models bit-level Hamming distance of operand buses.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Needs hardware capacitance tables unavailable for RISC-V.</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r h="1590545">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ML energy models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Regression / LSTM trained on measured execution traces.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Requires labelled RISC-V training data; opaque &amp; hard to debug.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FFFFF"/>
                    </a:solidFill>
                  </a:tcPr>
                </a:tc>
              </a:tr>
            </a:tbl>
          </a:graphicData>
        </a:graphic>
      </p:graphicFrame>
      <p:sp>
        <p:nvSpPr>
          <p:cNvPr name="TextBox 4" id="4"/>
          <p:cNvSpPr txBox="true"/>
          <p:nvPr/>
        </p:nvSpPr>
        <p:spPr>
          <a:xfrm rot="0">
            <a:off x="3668981" y="1057216"/>
            <a:ext cx="7523751" cy="1500505"/>
          </a:xfrm>
          <a:prstGeom prst="rect">
            <a:avLst/>
          </a:prstGeom>
        </p:spPr>
        <p:txBody>
          <a:bodyPr anchor="t" rtlCol="false" tIns="0" lIns="0" bIns="0" rIns="0">
            <a:spAutoFit/>
          </a:bodyPr>
          <a:lstStyle/>
          <a:p>
            <a:pPr algn="l">
              <a:lnSpc>
                <a:spcPts val="6019"/>
              </a:lnSpc>
            </a:pPr>
            <a:r>
              <a:rPr lang="en-US" sz="4299">
                <a:solidFill>
                  <a:srgbClr val="000000"/>
                </a:solidFill>
                <a:latin typeface="League Spartan"/>
                <a:ea typeface="League Spartan"/>
                <a:cs typeface="League Spartan"/>
                <a:sym typeface="League Spartan"/>
              </a:rPr>
              <a:t>Existing Systems</a:t>
            </a:r>
          </a:p>
          <a:p>
            <a:pPr algn="l">
              <a:lnSpc>
                <a:spcPts val="601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658658" y="3057797"/>
            <a:ext cx="8395063" cy="5208905"/>
          </a:xfrm>
          <a:prstGeom prst="rect">
            <a:avLst/>
          </a:prstGeom>
        </p:spPr>
        <p:txBody>
          <a:bodyPr anchor="t" rtlCol="false" tIns="0" lIns="0" bIns="0" rIns="0">
            <a:spAutoFit/>
          </a:bodyPr>
          <a:lstStyle/>
          <a:p>
            <a:pPr algn="just" marL="496571" indent="-248285" lvl="1">
              <a:lnSpc>
                <a:spcPts val="3220"/>
              </a:lnSpc>
              <a:buFont typeface="Arial"/>
              <a:buChar char="•"/>
            </a:pPr>
            <a:r>
              <a:rPr lang="en-US" b="true" sz="2300">
                <a:solidFill>
                  <a:srgbClr val="000000"/>
                </a:solidFill>
                <a:latin typeface="Times New Roman Bold"/>
                <a:ea typeface="Times New Roman Bold"/>
                <a:cs typeface="Times New Roman Bold"/>
                <a:sym typeface="Times New Roman Bold"/>
              </a:rPr>
              <a:t>Op</a:t>
            </a:r>
            <a:r>
              <a:rPr lang="en-US" b="true" sz="2300">
                <a:solidFill>
                  <a:srgbClr val="000000"/>
                </a:solidFill>
                <a:latin typeface="Times New Roman Bold"/>
                <a:ea typeface="Times New Roman Bold"/>
                <a:cs typeface="Times New Roman Bold"/>
                <a:sym typeface="Times New Roman Bold"/>
              </a:rPr>
              <a:t>erand Switching Activity ($\alpha$): </a:t>
            </a:r>
            <a:r>
              <a:rPr lang="en-US" sz="2300">
                <a:solidFill>
                  <a:srgbClr val="000000"/>
                </a:solidFill>
                <a:latin typeface="Times New Roman"/>
                <a:ea typeface="Times New Roman"/>
                <a:cs typeface="Times New Roman"/>
                <a:sym typeface="Times New Roman"/>
              </a:rPr>
              <a:t>Estimates bit-level toggling patterns purely from software operand types, scaling node energy from 0.3x for constants up to 1.2x for complex phi-nodes.</a:t>
            </a:r>
          </a:p>
          <a:p>
            <a:pPr algn="just">
              <a:lnSpc>
                <a:spcPts val="3220"/>
              </a:lnSpc>
            </a:pPr>
          </a:p>
          <a:p>
            <a:pPr algn="just" marL="496571" indent="-248285" lvl="1">
              <a:lnSpc>
                <a:spcPts val="3220"/>
              </a:lnSpc>
              <a:buFont typeface="Arial"/>
              <a:buChar char="•"/>
            </a:pPr>
            <a:r>
              <a:rPr lang="en-US" b="true" sz="2300">
                <a:solidFill>
                  <a:srgbClr val="000000"/>
                </a:solidFill>
                <a:latin typeface="Times New Roman Bold"/>
                <a:ea typeface="Times New Roman Bold"/>
                <a:cs typeface="Times New Roman Bold"/>
                <a:sym typeface="Times New Roman Bold"/>
              </a:rPr>
              <a:t>Memory Reuse Distance: </a:t>
            </a:r>
            <a:r>
              <a:rPr lang="en-US" sz="2300">
                <a:solidFill>
                  <a:srgbClr val="000000"/>
                </a:solidFill>
                <a:latin typeface="Times New Roman"/>
                <a:ea typeface="Times New Roman"/>
                <a:cs typeface="Times New Roman"/>
                <a:sym typeface="Times New Roman"/>
              </a:rPr>
              <a:t>Utilizes a local loop-bound reuse heuristic to accurately predict cache miss probability ($p_{miss}$), scaling dynamically between L1 hits and main memory stalls.</a:t>
            </a:r>
          </a:p>
          <a:p>
            <a:pPr algn="just">
              <a:lnSpc>
                <a:spcPts val="3220"/>
              </a:lnSpc>
            </a:pPr>
          </a:p>
          <a:p>
            <a:pPr algn="just" marL="496571" indent="-248285" lvl="1">
              <a:lnSpc>
                <a:spcPts val="3220"/>
              </a:lnSpc>
              <a:buFont typeface="Arial"/>
              <a:buChar char="•"/>
            </a:pPr>
            <a:r>
              <a:rPr lang="en-US" b="true" sz="2300">
                <a:solidFill>
                  <a:srgbClr val="000000"/>
                </a:solidFill>
                <a:latin typeface="Times New Roman Bold"/>
                <a:ea typeface="Times New Roman Bold"/>
                <a:cs typeface="Times New Roman Bold"/>
                <a:sym typeface="Times New Roman Bold"/>
              </a:rPr>
              <a:t>Branch Predictability:</a:t>
            </a:r>
            <a:r>
              <a:rPr lang="en-US" sz="2300">
                <a:solidFill>
                  <a:srgbClr val="000000"/>
                </a:solidFill>
                <a:latin typeface="Times New Roman"/>
                <a:ea typeface="Times New Roman"/>
                <a:cs typeface="Times New Roman"/>
                <a:sym typeface="Times New Roman"/>
              </a:rPr>
              <a:t> Accounts for pipelined control-flow overheads by injecting a physical 3.5 nJ penalty penalty weighted against a static baseline 10% misprediction rate.</a:t>
            </a:r>
          </a:p>
          <a:p>
            <a:pPr algn="just">
              <a:lnSpc>
                <a:spcPts val="3220"/>
              </a:lnSpc>
            </a:pPr>
          </a:p>
        </p:txBody>
      </p:sp>
      <p:graphicFrame>
        <p:nvGraphicFramePr>
          <p:cNvPr name="Table 4" id="4"/>
          <p:cNvGraphicFramePr>
            <a:graphicFrameLocks noGrp="true"/>
          </p:cNvGraphicFramePr>
          <p:nvPr/>
        </p:nvGraphicFramePr>
        <p:xfrm>
          <a:off x="11652715" y="4314825"/>
          <a:ext cx="5205945" cy="1657350"/>
        </p:xfrm>
        <a:graphic>
          <a:graphicData uri="http://schemas.openxmlformats.org/drawingml/2006/table">
            <a:tbl>
              <a:tblPr/>
              <a:tblGrid>
                <a:gridCol w="5205945"/>
              </a:tblGrid>
              <a:tr h="1657350">
                <a:tc>
                  <a:txBody>
                    <a:bodyPr anchor="t" rtlCol="false"/>
                    <a:lstStyle/>
                    <a:p>
                      <a:pPr algn="ctr">
                        <a:lnSpc>
                          <a:spcPts val="3219"/>
                        </a:lnSpc>
                        <a:defRPr/>
                      </a:pPr>
                      <a:r>
                        <a:rPr lang="en-US" sz="2299" b="true">
                          <a:solidFill>
                            <a:srgbClr val="000000"/>
                          </a:solidFill>
                          <a:latin typeface="Times New Roman Bold"/>
                          <a:ea typeface="Times New Roman Bold"/>
                          <a:cs typeface="Times New Roman Bold"/>
                          <a:sym typeface="Times New Roman Bold"/>
                        </a:rPr>
                        <a:t>E = ( E_base + (α_switch × E_switch) + (p_miss × E_miss) ) × ∏(Trip Counts)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bl>
          </a:graphicData>
        </a:graphic>
      </p:graphicFrame>
      <p:sp>
        <p:nvSpPr>
          <p:cNvPr name="TextBox 5" id="5"/>
          <p:cNvSpPr txBox="true"/>
          <p:nvPr/>
        </p:nvSpPr>
        <p:spPr>
          <a:xfrm rot="0">
            <a:off x="2954089" y="8232639"/>
            <a:ext cx="12379821" cy="408305"/>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Times New Roman Bold"/>
                <a:ea typeface="Times New Roman Bold"/>
                <a:cs typeface="Times New Roman Bold"/>
                <a:sym typeface="Times New Roman Bold"/>
              </a:rPr>
              <a:t>LLVM New-PM | C++17 Plugin | Python Simulation | PyYAML Cost Model | RISC-V rv32imc Core</a:t>
            </a:r>
          </a:p>
        </p:txBody>
      </p:sp>
      <p:sp>
        <p:nvSpPr>
          <p:cNvPr name="TextBox 6" id="6"/>
          <p:cNvSpPr txBox="true"/>
          <p:nvPr/>
        </p:nvSpPr>
        <p:spPr>
          <a:xfrm rot="0">
            <a:off x="3529970" y="1623967"/>
            <a:ext cx="7523751" cy="738505"/>
          </a:xfrm>
          <a:prstGeom prst="rect">
            <a:avLst/>
          </a:prstGeom>
        </p:spPr>
        <p:txBody>
          <a:bodyPr anchor="t" rtlCol="false" tIns="0" lIns="0" bIns="0" rIns="0">
            <a:spAutoFit/>
          </a:bodyPr>
          <a:lstStyle/>
          <a:p>
            <a:pPr algn="l">
              <a:lnSpc>
                <a:spcPts val="6019"/>
              </a:lnSpc>
              <a:spcBef>
                <a:spcPct val="0"/>
              </a:spcBef>
            </a:pPr>
            <a:r>
              <a:rPr lang="en-US" sz="4299">
                <a:solidFill>
                  <a:srgbClr val="000000"/>
                </a:solidFill>
                <a:latin typeface="League Spartan"/>
                <a:ea typeface="League Spartan"/>
                <a:cs typeface="League Spartan"/>
                <a:sym typeface="League Spartan"/>
              </a:rPr>
              <a:t>PROPOSED SOLUTION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994784" y="3124472"/>
            <a:ext cx="12512931" cy="5962184"/>
          </a:xfrm>
          <a:custGeom>
            <a:avLst/>
            <a:gdLst/>
            <a:ahLst/>
            <a:cxnLst/>
            <a:rect r="r" b="b" t="t" l="l"/>
            <a:pathLst>
              <a:path h="5962184" w="12512931">
                <a:moveTo>
                  <a:pt x="0" y="0"/>
                </a:moveTo>
                <a:lnTo>
                  <a:pt x="12512931" y="0"/>
                </a:lnTo>
                <a:lnTo>
                  <a:pt x="12512931" y="5962184"/>
                </a:lnTo>
                <a:lnTo>
                  <a:pt x="0" y="5962184"/>
                </a:lnTo>
                <a:lnTo>
                  <a:pt x="0" y="0"/>
                </a:lnTo>
                <a:close/>
              </a:path>
            </a:pathLst>
          </a:custGeom>
          <a:blipFill>
            <a:blip r:embed="rId3"/>
            <a:stretch>
              <a:fillRect l="0" t="-18052" r="0" b="0"/>
            </a:stretch>
          </a:blipFill>
        </p:spPr>
      </p:sp>
      <p:sp>
        <p:nvSpPr>
          <p:cNvPr name="TextBox 4" id="4"/>
          <p:cNvSpPr txBox="true"/>
          <p:nvPr/>
        </p:nvSpPr>
        <p:spPr>
          <a:xfrm rot="0">
            <a:off x="2994784" y="1623967"/>
            <a:ext cx="7523751" cy="1500505"/>
          </a:xfrm>
          <a:prstGeom prst="rect">
            <a:avLst/>
          </a:prstGeom>
        </p:spPr>
        <p:txBody>
          <a:bodyPr anchor="t" rtlCol="false" tIns="0" lIns="0" bIns="0" rIns="0">
            <a:spAutoFit/>
          </a:bodyPr>
          <a:lstStyle/>
          <a:p>
            <a:pPr algn="l">
              <a:lnSpc>
                <a:spcPts val="6019"/>
              </a:lnSpc>
            </a:pPr>
            <a:r>
              <a:rPr lang="en-US" sz="4299">
                <a:solidFill>
                  <a:srgbClr val="000000"/>
                </a:solidFill>
                <a:latin typeface="League Spartan"/>
                <a:ea typeface="League Spartan"/>
                <a:cs typeface="League Spartan"/>
                <a:sym typeface="League Spartan"/>
              </a:rPr>
              <a:t>Methodology</a:t>
            </a:r>
          </a:p>
          <a:p>
            <a:pPr algn="l">
              <a:lnSpc>
                <a:spcPts val="6019"/>
              </a:lnSpc>
              <a:spcBef>
                <a:spcPct val="0"/>
              </a:spcBef>
            </a:pPr>
          </a:p>
        </p:txBody>
      </p:sp>
      <p:sp>
        <p:nvSpPr>
          <p:cNvPr name="TextBox 5" id="5"/>
          <p:cNvSpPr txBox="true"/>
          <p:nvPr/>
        </p:nvSpPr>
        <p:spPr>
          <a:xfrm rot="0">
            <a:off x="2994784" y="2359932"/>
            <a:ext cx="7226597" cy="4318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Times New Roman Bold"/>
                <a:ea typeface="Times New Roman Bold"/>
                <a:cs typeface="Times New Roman Bold"/>
                <a:sym typeface="Times New Roman Bold"/>
              </a:rPr>
              <a:t>EnergyWise Framework Workflow &amp; Pipeline Stages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922549" y="3741371"/>
            <a:ext cx="10070649" cy="5077490"/>
          </a:xfrm>
          <a:custGeom>
            <a:avLst/>
            <a:gdLst/>
            <a:ahLst/>
            <a:cxnLst/>
            <a:rect r="r" b="b" t="t" l="l"/>
            <a:pathLst>
              <a:path h="5077490" w="10070649">
                <a:moveTo>
                  <a:pt x="0" y="0"/>
                </a:moveTo>
                <a:lnTo>
                  <a:pt x="10070649" y="0"/>
                </a:lnTo>
                <a:lnTo>
                  <a:pt x="10070649" y="5077490"/>
                </a:lnTo>
                <a:lnTo>
                  <a:pt x="0" y="5077490"/>
                </a:lnTo>
                <a:lnTo>
                  <a:pt x="0" y="0"/>
                </a:lnTo>
                <a:close/>
              </a:path>
            </a:pathLst>
          </a:custGeom>
          <a:blipFill>
            <a:blip r:embed="rId3"/>
            <a:stretch>
              <a:fillRect l="-2642" t="-21923" r="-9577" b="-3275"/>
            </a:stretch>
          </a:blipFill>
        </p:spPr>
      </p:sp>
      <p:sp>
        <p:nvSpPr>
          <p:cNvPr name="TextBox 4" id="4"/>
          <p:cNvSpPr txBox="true"/>
          <p:nvPr/>
        </p:nvSpPr>
        <p:spPr>
          <a:xfrm rot="0">
            <a:off x="2815828" y="1623967"/>
            <a:ext cx="7523751" cy="738505"/>
          </a:xfrm>
          <a:prstGeom prst="rect">
            <a:avLst/>
          </a:prstGeom>
        </p:spPr>
        <p:txBody>
          <a:bodyPr anchor="t" rtlCol="false" tIns="0" lIns="0" bIns="0" rIns="0">
            <a:spAutoFit/>
          </a:bodyPr>
          <a:lstStyle/>
          <a:p>
            <a:pPr algn="l">
              <a:lnSpc>
                <a:spcPts val="6019"/>
              </a:lnSpc>
              <a:spcBef>
                <a:spcPct val="0"/>
              </a:spcBef>
            </a:pPr>
            <a:r>
              <a:rPr lang="en-US" sz="4299">
                <a:solidFill>
                  <a:srgbClr val="000000"/>
                </a:solidFill>
                <a:latin typeface="League Spartan"/>
                <a:ea typeface="League Spartan"/>
                <a:cs typeface="League Spartan"/>
                <a:sym typeface="League Spartan"/>
              </a:rPr>
              <a:t>SYSTEM ARCHITECTURE</a:t>
            </a:r>
          </a:p>
        </p:txBody>
      </p:sp>
      <p:sp>
        <p:nvSpPr>
          <p:cNvPr name="TextBox 5" id="5"/>
          <p:cNvSpPr txBox="true"/>
          <p:nvPr/>
        </p:nvSpPr>
        <p:spPr>
          <a:xfrm rot="0">
            <a:off x="2697431" y="2513950"/>
            <a:ext cx="11855690" cy="87000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Times New Roman"/>
                <a:ea typeface="Times New Roman"/>
                <a:cs typeface="Times New Roman"/>
                <a:sym typeface="Times New Roman"/>
              </a:rPr>
              <a:t>Dual-backend execution flow sharing a unified YAML cost model and emitting an identical JSON schema.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493545" y="551089"/>
            <a:ext cx="7523751" cy="1500505"/>
          </a:xfrm>
          <a:prstGeom prst="rect">
            <a:avLst/>
          </a:prstGeom>
        </p:spPr>
        <p:txBody>
          <a:bodyPr anchor="t" rtlCol="false" tIns="0" lIns="0" bIns="0" rIns="0">
            <a:spAutoFit/>
          </a:bodyPr>
          <a:lstStyle/>
          <a:p>
            <a:pPr algn="l">
              <a:lnSpc>
                <a:spcPts val="6019"/>
              </a:lnSpc>
            </a:pPr>
            <a:r>
              <a:rPr lang="en-US" sz="4299">
                <a:solidFill>
                  <a:srgbClr val="000000"/>
                </a:solidFill>
                <a:latin typeface="League Spartan"/>
                <a:ea typeface="League Spartan"/>
                <a:cs typeface="League Spartan"/>
                <a:sym typeface="League Spartan"/>
              </a:rPr>
              <a:t>Literature Survey</a:t>
            </a:r>
          </a:p>
          <a:p>
            <a:pPr algn="l">
              <a:lnSpc>
                <a:spcPts val="6019"/>
              </a:lnSpc>
              <a:spcBef>
                <a:spcPct val="0"/>
              </a:spcBef>
            </a:pPr>
          </a:p>
        </p:txBody>
      </p:sp>
      <p:graphicFrame>
        <p:nvGraphicFramePr>
          <p:cNvPr name="Table 4" id="4"/>
          <p:cNvGraphicFramePr>
            <a:graphicFrameLocks noGrp="true"/>
          </p:cNvGraphicFramePr>
          <p:nvPr/>
        </p:nvGraphicFramePr>
        <p:xfrm>
          <a:off x="1224643" y="2051594"/>
          <a:ext cx="16034657" cy="7083264"/>
        </p:xfrm>
        <a:graphic>
          <a:graphicData uri="http://schemas.openxmlformats.org/drawingml/2006/table">
            <a:tbl>
              <a:tblPr/>
              <a:tblGrid>
                <a:gridCol w="3729668"/>
                <a:gridCol w="2520206"/>
                <a:gridCol w="2718354"/>
                <a:gridCol w="7066429"/>
              </a:tblGrid>
              <a:tr h="971261">
                <a:tc>
                  <a:txBody>
                    <a:bodyPr anchor="t" rtlCol="false"/>
                    <a:lstStyle/>
                    <a:p>
                      <a:pPr algn="ctr">
                        <a:lnSpc>
                          <a:spcPts val="3079"/>
                        </a:lnSpc>
                        <a:defRPr/>
                      </a:pPr>
                      <a:r>
                        <a:rPr lang="en-US" sz="2199" b="true">
                          <a:solidFill>
                            <a:srgbClr val="000000"/>
                          </a:solidFill>
                          <a:latin typeface="Times New Roman Bold"/>
                          <a:ea typeface="Times New Roman Bold"/>
                          <a:cs typeface="Times New Roman Bold"/>
                          <a:sym typeface="Times New Roman Bold"/>
                        </a:rPr>
                        <a:t>Paper / Work </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E0CCCC"/>
                    </a:solidFill>
                  </a:tcPr>
                </a:tc>
                <a:tc>
                  <a:txBody>
                    <a:bodyPr anchor="t" rtlCol="false"/>
                    <a:lstStyle/>
                    <a:p>
                      <a:pPr algn="ctr">
                        <a:lnSpc>
                          <a:spcPts val="3079"/>
                        </a:lnSpc>
                        <a:defRPr/>
                      </a:pPr>
                      <a:r>
                        <a:rPr lang="en-US" sz="2199" b="true">
                          <a:solidFill>
                            <a:srgbClr val="000000"/>
                          </a:solidFill>
                          <a:latin typeface="Times New Roman Bold"/>
                          <a:ea typeface="Times New Roman Bold"/>
                          <a:cs typeface="Times New Roman Bold"/>
                          <a:sym typeface="Times New Roman Bold"/>
                        </a:rPr>
                        <a:t>Publication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E0CCCC"/>
                    </a:solidFill>
                  </a:tcPr>
                </a:tc>
                <a:tc>
                  <a:txBody>
                    <a:bodyPr anchor="t" rtlCol="false"/>
                    <a:lstStyle/>
                    <a:p>
                      <a:pPr algn="ctr">
                        <a:lnSpc>
                          <a:spcPts val="3079"/>
                        </a:lnSpc>
                        <a:defRPr/>
                      </a:pPr>
                      <a:r>
                        <a:rPr lang="en-US" sz="2199" b="true">
                          <a:solidFill>
                            <a:srgbClr val="000000"/>
                          </a:solidFill>
                          <a:latin typeface="Times New Roman Bold"/>
                          <a:ea typeface="Times New Roman Bold"/>
                          <a:cs typeface="Times New Roman Bold"/>
                          <a:sym typeface="Times New Roman Bold"/>
                        </a:rPr>
                        <a:t>Authors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E0CCCC"/>
                    </a:solidFill>
                  </a:tcPr>
                </a:tc>
                <a:tc>
                  <a:txBody>
                    <a:bodyPr anchor="t" rtlCol="false"/>
                    <a:lstStyle/>
                    <a:p>
                      <a:pPr algn="ctr">
                        <a:lnSpc>
                          <a:spcPts val="3079"/>
                        </a:lnSpc>
                        <a:defRPr/>
                      </a:pPr>
                      <a:r>
                        <a:rPr lang="en-US" sz="2199" b="true">
                          <a:solidFill>
                            <a:srgbClr val="000000"/>
                          </a:solidFill>
                          <a:latin typeface="Times New Roman Bold"/>
                          <a:ea typeface="Times New Roman Bold"/>
                          <a:cs typeface="Times New Roman Bold"/>
                          <a:sym typeface="Times New Roman Bold"/>
                        </a:rPr>
                        <a:t>Key Findings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E0CCCC"/>
                    </a:solidFill>
                  </a:tcPr>
                </a:tc>
              </a:tr>
              <a:tr h="1643672">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Static Analysis of Energy Consumption for LLVM IR Programs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SCOPES (ACM); arXiv 1405.4565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Grech, Georgiou, Kerrison, Morse, Eder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Infers energy formulae from LLVM IR via symbolic execution; validated on Cortex-M &amp; xCORE — basis for IR-level estimation.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r>
              <a:tr h="1412329">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Inferring Parametric Energy Functions: ISA vs LLVM IR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Springer LNCS (FOPARA)</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Grech, Georgiou, Pallister et al.</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Compares ISA-level vs IR-level energy models; IR offers the best analyzability–accuracy trade-off.</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r>
              <a:tr h="1412329">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LLM-assisted Performance &amp; Energy Estimation on RISC-V</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ResearchGate / preprint, 2025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(see citation)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Couples instruction-level static analysis with data-driven regression; avoids dynamic instrumentation.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r>
              <a:tr h="1643672">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Run-Time Energy Efficiency via Controlled Approximation in a RISC-V Core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arXiv 2410.07027, 2024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(RISC-V approx-computing group)</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Reports 13.3 pJ/instruction at 500 MHz (45nm); quantifies per-stage energy savings from approximation.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A1C2D0"/>
                    </a:solidFill>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1642983" y="1640840"/>
          <a:ext cx="15910231" cy="7400925"/>
        </p:xfrm>
        <a:graphic>
          <a:graphicData uri="http://schemas.openxmlformats.org/drawingml/2006/table">
            <a:tbl>
              <a:tblPr/>
              <a:tblGrid>
                <a:gridCol w="4102692"/>
                <a:gridCol w="3039623"/>
                <a:gridCol w="3278609"/>
                <a:gridCol w="5489307"/>
              </a:tblGrid>
              <a:tr h="945025">
                <a:tc>
                  <a:txBody>
                    <a:bodyPr anchor="t" rtlCol="false"/>
                    <a:lstStyle/>
                    <a:p>
                      <a:pPr algn="ctr">
                        <a:lnSpc>
                          <a:spcPts val="3079"/>
                        </a:lnSpc>
                        <a:defRPr/>
                      </a:pPr>
                      <a:r>
                        <a:rPr lang="en-US" sz="2199" b="true">
                          <a:solidFill>
                            <a:srgbClr val="000000"/>
                          </a:solidFill>
                          <a:latin typeface="Times New Roman Bold"/>
                          <a:ea typeface="Times New Roman Bold"/>
                          <a:cs typeface="Times New Roman Bold"/>
                          <a:sym typeface="Times New Roman Bold"/>
                        </a:rPr>
                        <a:t>Paper / Work </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0CCCC"/>
                    </a:solidFill>
                  </a:tcPr>
                </a:tc>
                <a:tc>
                  <a:txBody>
                    <a:bodyPr anchor="t" rtlCol="false"/>
                    <a:lstStyle/>
                    <a:p>
                      <a:pPr algn="ctr">
                        <a:lnSpc>
                          <a:spcPts val="3079"/>
                        </a:lnSpc>
                        <a:defRPr/>
                      </a:pPr>
                      <a:r>
                        <a:rPr lang="en-US" sz="2199" b="true">
                          <a:solidFill>
                            <a:srgbClr val="000000"/>
                          </a:solidFill>
                          <a:latin typeface="Times New Roman Bold"/>
                          <a:ea typeface="Times New Roman Bold"/>
                          <a:cs typeface="Times New Roman Bold"/>
                          <a:sym typeface="Times New Roman Bold"/>
                        </a:rPr>
                        <a:t>Publication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0CCCC"/>
                    </a:solidFill>
                  </a:tcPr>
                </a:tc>
                <a:tc>
                  <a:txBody>
                    <a:bodyPr anchor="t" rtlCol="false"/>
                    <a:lstStyle/>
                    <a:p>
                      <a:pPr algn="ctr">
                        <a:lnSpc>
                          <a:spcPts val="3079"/>
                        </a:lnSpc>
                        <a:defRPr/>
                      </a:pPr>
                      <a:r>
                        <a:rPr lang="en-US" sz="2199" b="true">
                          <a:solidFill>
                            <a:srgbClr val="000000"/>
                          </a:solidFill>
                          <a:latin typeface="Times New Roman Bold"/>
                          <a:ea typeface="Times New Roman Bold"/>
                          <a:cs typeface="Times New Roman Bold"/>
                          <a:sym typeface="Times New Roman Bold"/>
                        </a:rPr>
                        <a:t>Authors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0CCCC"/>
                    </a:solidFill>
                  </a:tcPr>
                </a:tc>
                <a:tc>
                  <a:txBody>
                    <a:bodyPr anchor="t" rtlCol="false"/>
                    <a:lstStyle/>
                    <a:p>
                      <a:pPr algn="ctr">
                        <a:lnSpc>
                          <a:spcPts val="3079"/>
                        </a:lnSpc>
                        <a:defRPr/>
                      </a:pPr>
                      <a:r>
                        <a:rPr lang="en-US" sz="2199" b="true">
                          <a:solidFill>
                            <a:srgbClr val="000000"/>
                          </a:solidFill>
                          <a:latin typeface="Times New Roman Bold"/>
                          <a:ea typeface="Times New Roman Bold"/>
                          <a:cs typeface="Times New Roman Bold"/>
                          <a:sym typeface="Times New Roman Bold"/>
                        </a:rPr>
                        <a:t>Key Findings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0CCCC"/>
                    </a:solidFill>
                  </a:tcPr>
                </a:tc>
              </a:tr>
              <a:tr h="1613975">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SystemC-AMS Power Modeling + RISC-V ISS (GAP9/PULP)</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ACM ISS, arXiv 2404.01861, 2024</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Vinco et al</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Integrates power dynamics with functional ISS for battery-operated PULP RISC-V virtual prototypes.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r>
              <a:tr h="1613975">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IoT Processor Power Prediction via Instruction Dissection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IEEE Access, 2024</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Yusuf, Ahmed, Onwuka, Suleiman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Instruction-dissection regression predicts processor power for IoT cores from instruction mix</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r>
              <a:tr h="1613975">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Low-Power RISC-V Core for Energy-Constrained Edge Devices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J. Integrated VLSI &amp; Embedded Comp. Tech., 2026</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Teyene, Taconi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Micro-architectural low-power core design for battery / energy-harvesting edge nodes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r>
              <a:tr h="1613975">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Accurate Instruction-Level Energy Model for Embedded RISC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J. Integrated VLSI &amp; Embedded Comp. Tech., 2026</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Tiwari et al</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c>
                  <a:txBody>
                    <a:bodyPr anchor="t" rtlCol="false"/>
                    <a:lstStyle/>
                    <a:p>
                      <a:pPr algn="ctr">
                        <a:lnSpc>
                          <a:spcPts val="2659"/>
                        </a:lnSpc>
                        <a:defRPr/>
                      </a:pPr>
                      <a:r>
                        <a:rPr lang="en-US" sz="1899">
                          <a:solidFill>
                            <a:srgbClr val="000000"/>
                          </a:solidFill>
                          <a:latin typeface="Times New Roman"/>
                          <a:ea typeface="Times New Roman"/>
                          <a:cs typeface="Times New Roman"/>
                          <a:sym typeface="Times New Roman"/>
                        </a:rPr>
                        <a:t>Per-instruction energy from measured current draw — classic flat-counting baseline EnergyWise improves on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2D0"/>
                    </a:solidFill>
                  </a:tcPr>
                </a:tc>
              </a:tr>
            </a:tbl>
          </a:graphicData>
        </a:graphic>
      </p:graphicFrame>
      <p:sp>
        <p:nvSpPr>
          <p:cNvPr name="TextBox 4" id="4"/>
          <p:cNvSpPr txBox="true"/>
          <p:nvPr/>
        </p:nvSpPr>
        <p:spPr>
          <a:xfrm rot="0">
            <a:off x="4558859" y="847725"/>
            <a:ext cx="7523751" cy="1500505"/>
          </a:xfrm>
          <a:prstGeom prst="rect">
            <a:avLst/>
          </a:prstGeom>
        </p:spPr>
        <p:txBody>
          <a:bodyPr anchor="t" rtlCol="false" tIns="0" lIns="0" bIns="0" rIns="0">
            <a:spAutoFit/>
          </a:bodyPr>
          <a:lstStyle/>
          <a:p>
            <a:pPr algn="l">
              <a:lnSpc>
                <a:spcPts val="6019"/>
              </a:lnSpc>
            </a:pPr>
            <a:r>
              <a:rPr lang="en-US" sz="4299">
                <a:solidFill>
                  <a:srgbClr val="000000"/>
                </a:solidFill>
                <a:latin typeface="League Spartan"/>
                <a:ea typeface="League Spartan"/>
                <a:cs typeface="League Spartan"/>
                <a:sym typeface="League Spartan"/>
              </a:rPr>
              <a:t>Literature Survey</a:t>
            </a:r>
          </a:p>
          <a:p>
            <a:pPr algn="l">
              <a:lnSpc>
                <a:spcPts val="601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994784" y="1623967"/>
            <a:ext cx="7523751" cy="738505"/>
          </a:xfrm>
          <a:prstGeom prst="rect">
            <a:avLst/>
          </a:prstGeom>
        </p:spPr>
        <p:txBody>
          <a:bodyPr anchor="t" rtlCol="false" tIns="0" lIns="0" bIns="0" rIns="0">
            <a:spAutoFit/>
          </a:bodyPr>
          <a:lstStyle/>
          <a:p>
            <a:pPr algn="l">
              <a:lnSpc>
                <a:spcPts val="6019"/>
              </a:lnSpc>
              <a:spcBef>
                <a:spcPct val="0"/>
              </a:spcBef>
            </a:pPr>
            <a:r>
              <a:rPr lang="en-US" sz="4299">
                <a:solidFill>
                  <a:srgbClr val="000000"/>
                </a:solidFill>
                <a:latin typeface="League Spartan"/>
                <a:ea typeface="League Spartan"/>
                <a:cs typeface="League Spartan"/>
                <a:sym typeface="League Spartan"/>
              </a:rPr>
              <a:t>NOVELTY &amp; INNOVATION</a:t>
            </a:r>
          </a:p>
        </p:txBody>
      </p:sp>
      <p:sp>
        <p:nvSpPr>
          <p:cNvPr name="TextBox 4" id="4"/>
          <p:cNvSpPr txBox="true"/>
          <p:nvPr/>
        </p:nvSpPr>
        <p:spPr>
          <a:xfrm rot="0">
            <a:off x="1980208" y="2305322"/>
            <a:ext cx="15279092" cy="7004050"/>
          </a:xfrm>
          <a:prstGeom prst="rect">
            <a:avLst/>
          </a:prstGeom>
        </p:spPr>
        <p:txBody>
          <a:bodyPr anchor="t" rtlCol="false" tIns="0" lIns="0" bIns="0" rIns="0">
            <a:spAutoFit/>
          </a:bodyPr>
          <a:lstStyle/>
          <a:p>
            <a:pPr algn="l" marL="539749" indent="-269875" lvl="1">
              <a:lnSpc>
                <a:spcPts val="3499"/>
              </a:lnSpc>
              <a:spcBef>
                <a:spcPct val="0"/>
              </a:spcBef>
              <a:buFont typeface="Arial"/>
              <a:buChar char="•"/>
            </a:pPr>
            <a:r>
              <a:rPr lang="en-US" b="true" sz="2499">
                <a:solidFill>
                  <a:srgbClr val="000000"/>
                </a:solidFill>
                <a:latin typeface="Times New Roman Bold"/>
                <a:ea typeface="Times New Roman Bold"/>
                <a:cs typeface="Times New Roman Bold"/>
                <a:sym typeface="Times New Roman Bold"/>
              </a:rPr>
              <a:t>Three-Signal Co</a:t>
            </a:r>
            <a:r>
              <a:rPr lang="en-US" b="true" sz="2499">
                <a:solidFill>
                  <a:srgbClr val="000000"/>
                </a:solidFill>
                <a:latin typeface="Times New Roman Bold"/>
                <a:ea typeface="Times New Roman Bold"/>
                <a:cs typeface="Times New Roman Bold"/>
                <a:sym typeface="Times New Roman Bold"/>
              </a:rPr>
              <a:t>ntext Modeling: </a:t>
            </a:r>
            <a:r>
              <a:rPr lang="en-US" sz="2499">
                <a:solidFill>
                  <a:srgbClr val="000000"/>
                </a:solidFill>
                <a:latin typeface="Times New Roman"/>
                <a:ea typeface="Times New Roman"/>
                <a:cs typeface="Times New Roman"/>
                <a:sym typeface="Times New Roman"/>
              </a:rPr>
              <a:t>Combines operand switching activity, memory-reuse distance, and branch predictability to achieve simulation-level accuracy statically, outperforming traditional flat instruction counters.</a:t>
            </a:r>
          </a:p>
          <a:p>
            <a:pPr algn="l">
              <a:lnSpc>
                <a:spcPts val="3499"/>
              </a:lnSpc>
              <a:spcBef>
                <a:spcPct val="0"/>
              </a:spcBef>
            </a:pPr>
          </a:p>
          <a:p>
            <a:pPr algn="l" marL="539749" indent="-269875" lvl="1">
              <a:lnSpc>
                <a:spcPts val="3499"/>
              </a:lnSpc>
              <a:spcBef>
                <a:spcPct val="0"/>
              </a:spcBef>
              <a:buFont typeface="Arial"/>
              <a:buChar char="•"/>
            </a:pPr>
            <a:r>
              <a:rPr lang="en-US" b="true" sz="2499">
                <a:solidFill>
                  <a:srgbClr val="000000"/>
                </a:solidFill>
                <a:latin typeface="Times New Roman Bold"/>
                <a:ea typeface="Times New Roman Bold"/>
                <a:cs typeface="Times New Roman Bold"/>
                <a:sym typeface="Times New Roman Bold"/>
              </a:rPr>
              <a:t>Transparent and Inspectable Cost Tables:</a:t>
            </a:r>
            <a:r>
              <a:rPr lang="en-US" sz="2499">
                <a:solidFill>
                  <a:srgbClr val="000000"/>
                </a:solidFill>
                <a:latin typeface="Times New Roman"/>
                <a:ea typeface="Times New Roman"/>
                <a:cs typeface="Times New Roman"/>
                <a:sym typeface="Times New Roman"/>
              </a:rPr>
              <a:t> Replaces opaque "black-box" machine learning models with human-readable, fully editable YAML cost configurations for instant core re-tuning.</a:t>
            </a:r>
          </a:p>
          <a:p>
            <a:pPr algn="l">
              <a:lnSpc>
                <a:spcPts val="3499"/>
              </a:lnSpc>
              <a:spcBef>
                <a:spcPct val="0"/>
              </a:spcBef>
            </a:pPr>
          </a:p>
          <a:p>
            <a:pPr algn="l" marL="539749" indent="-269875" lvl="1">
              <a:lnSpc>
                <a:spcPts val="3499"/>
              </a:lnSpc>
              <a:spcBef>
                <a:spcPct val="0"/>
              </a:spcBef>
              <a:buFont typeface="Arial"/>
              <a:buChar char="•"/>
            </a:pPr>
            <a:r>
              <a:rPr lang="en-US" b="true" sz="2499">
                <a:solidFill>
                  <a:srgbClr val="000000"/>
                </a:solidFill>
                <a:latin typeface="Times New Roman Bold"/>
                <a:ea typeface="Times New Roman Bold"/>
                <a:cs typeface="Times New Roman Bold"/>
                <a:sym typeface="Times New Roman Bold"/>
              </a:rPr>
              <a:t>Dual-Backend Execution Pipeline:</a:t>
            </a:r>
            <a:r>
              <a:rPr lang="en-US" sz="2499">
                <a:solidFill>
                  <a:srgbClr val="000000"/>
                </a:solidFill>
                <a:latin typeface="Times New Roman"/>
                <a:ea typeface="Times New Roman"/>
                <a:cs typeface="Times New Roman"/>
                <a:sym typeface="Times New Roman"/>
              </a:rPr>
              <a:t> Features a high-fidelity C++ LLVM pass paired with a zero-dependency Python driver simulator that share a unified schema and produce identical JSON reports.</a:t>
            </a:r>
          </a:p>
          <a:p>
            <a:pPr algn="l">
              <a:lnSpc>
                <a:spcPts val="3499"/>
              </a:lnSpc>
              <a:spcBef>
                <a:spcPct val="0"/>
              </a:spcBef>
            </a:pPr>
          </a:p>
          <a:p>
            <a:pPr algn="l" marL="539749" indent="-269875" lvl="1">
              <a:lnSpc>
                <a:spcPts val="3499"/>
              </a:lnSpc>
              <a:spcBef>
                <a:spcPct val="0"/>
              </a:spcBef>
              <a:buFont typeface="Arial"/>
              <a:buChar char="•"/>
            </a:pPr>
            <a:r>
              <a:rPr lang="en-US" b="true" sz="2499">
                <a:solidFill>
                  <a:srgbClr val="000000"/>
                </a:solidFill>
                <a:latin typeface="Times New Roman Bold"/>
                <a:ea typeface="Times New Roman Bold"/>
                <a:cs typeface="Times New Roman Bold"/>
                <a:sym typeface="Times New Roman Bold"/>
              </a:rPr>
              <a:t>Retargetable Compiler-Level Design:</a:t>
            </a:r>
            <a:r>
              <a:rPr lang="en-US" sz="2499">
                <a:solidFill>
                  <a:srgbClr val="000000"/>
                </a:solidFill>
                <a:latin typeface="Times New Roman"/>
                <a:ea typeface="Times New Roman"/>
                <a:cs typeface="Times New Roman"/>
                <a:sym typeface="Times New Roman"/>
              </a:rPr>
              <a:t> Operates directly at the LLVM IR level, making the energy estimation framework completely independent of the source language (C, C++, Rust) and easily portable to different ISA variants.</a:t>
            </a:r>
          </a:p>
          <a:p>
            <a:pPr algn="l" marL="539749" indent="-269875" lvl="1">
              <a:lnSpc>
                <a:spcPts val="3499"/>
              </a:lnSpc>
              <a:spcBef>
                <a:spcPct val="0"/>
              </a:spcBef>
              <a:buFont typeface="Arial"/>
              <a:buChar char="•"/>
            </a:pPr>
          </a:p>
          <a:p>
            <a:pPr algn="l" marL="539749" indent="-269875" lvl="1">
              <a:lnSpc>
                <a:spcPts val="3499"/>
              </a:lnSpc>
              <a:spcBef>
                <a:spcPct val="0"/>
              </a:spcBef>
              <a:buFont typeface="Arial"/>
              <a:buChar char="•"/>
            </a:pPr>
            <a:r>
              <a:rPr lang="en-US" b="true" sz="2499">
                <a:solidFill>
                  <a:srgbClr val="000000"/>
                </a:solidFill>
                <a:latin typeface="Times New Roman Bold"/>
                <a:ea typeface="Times New Roman Bold"/>
                <a:cs typeface="Times New Roman Bold"/>
                <a:sym typeface="Times New Roman Bold"/>
              </a:rPr>
              <a:t>Immediate Developer Feedback: </a:t>
            </a:r>
            <a:r>
              <a:rPr lang="en-US" sz="2499">
                <a:solidFill>
                  <a:srgbClr val="000000"/>
                </a:solidFill>
                <a:latin typeface="Times New Roman"/>
                <a:ea typeface="Times New Roman"/>
                <a:cs typeface="Times New Roman"/>
                <a:sym typeface="Times New Roman"/>
              </a:rPr>
              <a:t>Runs seamlessly within seconds as a standard compiler module pass, integrating power-awareness directly into the daily edit-compile-optimization cycle.</a:t>
            </a:r>
          </a:p>
          <a:p>
            <a:pPr algn="l">
              <a:lnSpc>
                <a:spcPts val="349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926995" y="1329599"/>
            <a:ext cx="7523751" cy="738505"/>
          </a:xfrm>
          <a:prstGeom prst="rect">
            <a:avLst/>
          </a:prstGeom>
        </p:spPr>
        <p:txBody>
          <a:bodyPr anchor="t" rtlCol="false" tIns="0" lIns="0" bIns="0" rIns="0">
            <a:spAutoFit/>
          </a:bodyPr>
          <a:lstStyle/>
          <a:p>
            <a:pPr algn="l">
              <a:lnSpc>
                <a:spcPts val="6019"/>
              </a:lnSpc>
              <a:spcBef>
                <a:spcPct val="0"/>
              </a:spcBef>
            </a:pPr>
            <a:r>
              <a:rPr lang="en-US" sz="4299">
                <a:solidFill>
                  <a:srgbClr val="000000"/>
                </a:solidFill>
                <a:latin typeface="League Spartan"/>
                <a:ea typeface="League Spartan"/>
                <a:cs typeface="League Spartan"/>
                <a:sym typeface="League Spartan"/>
              </a:rPr>
              <a:t>Results</a:t>
            </a:r>
          </a:p>
        </p:txBody>
      </p:sp>
      <p:sp>
        <p:nvSpPr>
          <p:cNvPr name="TextBox 4" id="4"/>
          <p:cNvSpPr txBox="true"/>
          <p:nvPr/>
        </p:nvSpPr>
        <p:spPr>
          <a:xfrm rot="0">
            <a:off x="1676836" y="2010954"/>
            <a:ext cx="6651362" cy="8700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a:ea typeface="Times New Roman"/>
                <a:cs typeface="Times New Roman"/>
                <a:sym typeface="Times New Roman"/>
              </a:rPr>
              <a:t>Energy reduction from each transformation</a:t>
            </a:r>
          </a:p>
          <a:p>
            <a:pPr algn="l">
              <a:lnSpc>
                <a:spcPts val="3499"/>
              </a:lnSpc>
              <a:spcBef>
                <a:spcPct val="0"/>
              </a:spcBef>
            </a:pPr>
          </a:p>
        </p:txBody>
      </p:sp>
      <p:sp>
        <p:nvSpPr>
          <p:cNvPr name="Freeform 5" id="5"/>
          <p:cNvSpPr/>
          <p:nvPr/>
        </p:nvSpPr>
        <p:spPr>
          <a:xfrm flipH="false" flipV="false" rot="0">
            <a:off x="1676836" y="2880954"/>
            <a:ext cx="7246728" cy="3426094"/>
          </a:xfrm>
          <a:custGeom>
            <a:avLst/>
            <a:gdLst/>
            <a:ahLst/>
            <a:cxnLst/>
            <a:rect r="r" b="b" t="t" l="l"/>
            <a:pathLst>
              <a:path h="3426094" w="7246728">
                <a:moveTo>
                  <a:pt x="0" y="0"/>
                </a:moveTo>
                <a:lnTo>
                  <a:pt x="7246728" y="0"/>
                </a:lnTo>
                <a:lnTo>
                  <a:pt x="7246728" y="3426094"/>
                </a:lnTo>
                <a:lnTo>
                  <a:pt x="0" y="3426094"/>
                </a:lnTo>
                <a:lnTo>
                  <a:pt x="0" y="0"/>
                </a:lnTo>
                <a:close/>
              </a:path>
            </a:pathLst>
          </a:custGeom>
          <a:blipFill>
            <a:blip r:embed="rId3"/>
            <a:stretch>
              <a:fillRect l="0" t="-1410" r="0" b="-1410"/>
            </a:stretch>
          </a:blipFill>
          <a:ln w="38100" cap="sq">
            <a:solidFill>
              <a:srgbClr val="000000"/>
            </a:solidFill>
            <a:prstDash val="solid"/>
            <a:miter/>
          </a:ln>
        </p:spPr>
      </p:sp>
      <p:sp>
        <p:nvSpPr>
          <p:cNvPr name="Freeform 6" id="6"/>
          <p:cNvSpPr/>
          <p:nvPr/>
        </p:nvSpPr>
        <p:spPr>
          <a:xfrm flipH="false" flipV="false" rot="0">
            <a:off x="10003682" y="2880954"/>
            <a:ext cx="7255618" cy="3625355"/>
          </a:xfrm>
          <a:custGeom>
            <a:avLst/>
            <a:gdLst/>
            <a:ahLst/>
            <a:cxnLst/>
            <a:rect r="r" b="b" t="t" l="l"/>
            <a:pathLst>
              <a:path h="3625355" w="7255618">
                <a:moveTo>
                  <a:pt x="0" y="0"/>
                </a:moveTo>
                <a:lnTo>
                  <a:pt x="7255618" y="0"/>
                </a:lnTo>
                <a:lnTo>
                  <a:pt x="7255618" y="3625355"/>
                </a:lnTo>
                <a:lnTo>
                  <a:pt x="0" y="3625355"/>
                </a:lnTo>
                <a:lnTo>
                  <a:pt x="0" y="0"/>
                </a:lnTo>
                <a:close/>
              </a:path>
            </a:pathLst>
          </a:custGeom>
          <a:blipFill>
            <a:blip r:embed="rId4"/>
            <a:stretch>
              <a:fillRect l="0" t="-2616" r="0" b="0"/>
            </a:stretch>
          </a:blipFill>
          <a:ln w="38100" cap="sq">
            <a:solidFill>
              <a:srgbClr val="000000"/>
            </a:solidFill>
            <a:prstDash val="solid"/>
            <a:miter/>
          </a:ln>
        </p:spPr>
      </p:sp>
      <p:sp>
        <p:nvSpPr>
          <p:cNvPr name="TextBox 7" id="7"/>
          <p:cNvSpPr txBox="true"/>
          <p:nvPr/>
        </p:nvSpPr>
        <p:spPr>
          <a:xfrm rot="0">
            <a:off x="10003682" y="2010954"/>
            <a:ext cx="5728553" cy="1308174"/>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a:ea typeface="Times New Roman"/>
                <a:cs typeface="Times New Roman"/>
                <a:sym typeface="Times New Roman"/>
              </a:rPr>
              <a:t>Verified energy (nJ): naive → optimized</a:t>
            </a:r>
          </a:p>
          <a:p>
            <a:pPr algn="l">
              <a:lnSpc>
                <a:spcPts val="3499"/>
              </a:lnSpc>
            </a:pPr>
          </a:p>
          <a:p>
            <a:pPr algn="l">
              <a:lnSpc>
                <a:spcPts val="3499"/>
              </a:lnSpc>
              <a:spcBef>
                <a:spcPct val="0"/>
              </a:spcBef>
            </a:pPr>
          </a:p>
        </p:txBody>
      </p:sp>
      <p:sp>
        <p:nvSpPr>
          <p:cNvPr name="Freeform 8" id="8"/>
          <p:cNvSpPr/>
          <p:nvPr/>
        </p:nvSpPr>
        <p:spPr>
          <a:xfrm flipH="false" flipV="false" rot="0">
            <a:off x="2862797" y="7303100"/>
            <a:ext cx="2841695" cy="1318976"/>
          </a:xfrm>
          <a:custGeom>
            <a:avLst/>
            <a:gdLst/>
            <a:ahLst/>
            <a:cxnLst/>
            <a:rect r="r" b="b" t="t" l="l"/>
            <a:pathLst>
              <a:path h="1318976" w="2841695">
                <a:moveTo>
                  <a:pt x="0" y="0"/>
                </a:moveTo>
                <a:lnTo>
                  <a:pt x="2841695" y="0"/>
                </a:lnTo>
                <a:lnTo>
                  <a:pt x="2841695" y="1318975"/>
                </a:lnTo>
                <a:lnTo>
                  <a:pt x="0" y="1318975"/>
                </a:lnTo>
                <a:lnTo>
                  <a:pt x="0" y="0"/>
                </a:lnTo>
                <a:close/>
              </a:path>
            </a:pathLst>
          </a:custGeom>
          <a:blipFill>
            <a:blip r:embed="rId5"/>
            <a:stretch>
              <a:fillRect l="0" t="0" r="0" b="0"/>
            </a:stretch>
          </a:blipFill>
          <a:ln w="38100" cap="sq">
            <a:solidFill>
              <a:srgbClr val="000000"/>
            </a:solidFill>
            <a:prstDash val="solid"/>
            <a:miter/>
          </a:ln>
        </p:spPr>
      </p:sp>
      <p:sp>
        <p:nvSpPr>
          <p:cNvPr name="Freeform 9" id="9"/>
          <p:cNvSpPr/>
          <p:nvPr/>
        </p:nvSpPr>
        <p:spPr>
          <a:xfrm flipH="false" flipV="false" rot="0">
            <a:off x="6703582" y="7303100"/>
            <a:ext cx="2778498" cy="1318976"/>
          </a:xfrm>
          <a:custGeom>
            <a:avLst/>
            <a:gdLst/>
            <a:ahLst/>
            <a:cxnLst/>
            <a:rect r="r" b="b" t="t" l="l"/>
            <a:pathLst>
              <a:path h="1318976" w="2778498">
                <a:moveTo>
                  <a:pt x="0" y="0"/>
                </a:moveTo>
                <a:lnTo>
                  <a:pt x="2778498" y="0"/>
                </a:lnTo>
                <a:lnTo>
                  <a:pt x="2778498" y="1318975"/>
                </a:lnTo>
                <a:lnTo>
                  <a:pt x="0" y="1318975"/>
                </a:lnTo>
                <a:lnTo>
                  <a:pt x="0" y="0"/>
                </a:lnTo>
                <a:close/>
              </a:path>
            </a:pathLst>
          </a:custGeom>
          <a:blipFill>
            <a:blip r:embed="rId6"/>
            <a:stretch>
              <a:fillRect l="0" t="0" r="0" b="0"/>
            </a:stretch>
          </a:blipFill>
          <a:ln w="38100" cap="sq">
            <a:solidFill>
              <a:srgbClr val="000000"/>
            </a:solidFill>
            <a:prstDash val="solid"/>
            <a:miter/>
          </a:ln>
        </p:spPr>
      </p:sp>
      <p:sp>
        <p:nvSpPr>
          <p:cNvPr name="Freeform 10" id="10"/>
          <p:cNvSpPr/>
          <p:nvPr/>
        </p:nvSpPr>
        <p:spPr>
          <a:xfrm flipH="false" flipV="false" rot="0">
            <a:off x="10747756" y="7273737"/>
            <a:ext cx="2370929" cy="1377702"/>
          </a:xfrm>
          <a:custGeom>
            <a:avLst/>
            <a:gdLst/>
            <a:ahLst/>
            <a:cxnLst/>
            <a:rect r="r" b="b" t="t" l="l"/>
            <a:pathLst>
              <a:path h="1377702" w="2370929">
                <a:moveTo>
                  <a:pt x="0" y="0"/>
                </a:moveTo>
                <a:lnTo>
                  <a:pt x="2370929" y="0"/>
                </a:lnTo>
                <a:lnTo>
                  <a:pt x="2370929" y="1377701"/>
                </a:lnTo>
                <a:lnTo>
                  <a:pt x="0" y="1377701"/>
                </a:lnTo>
                <a:lnTo>
                  <a:pt x="0" y="0"/>
                </a:lnTo>
                <a:close/>
              </a:path>
            </a:pathLst>
          </a:custGeom>
          <a:blipFill>
            <a:blip r:embed="rId7"/>
            <a:stretch>
              <a:fillRect l="0" t="0" r="0" b="0"/>
            </a:stretch>
          </a:blipFill>
          <a:ln w="38100" cap="sq">
            <a:solidFill>
              <a:srgbClr val="000000"/>
            </a:solidFill>
            <a:prstDash val="solid"/>
            <a:miter/>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488443" y="1252466"/>
            <a:ext cx="8894292" cy="738505"/>
          </a:xfrm>
          <a:prstGeom prst="rect">
            <a:avLst/>
          </a:prstGeom>
        </p:spPr>
        <p:txBody>
          <a:bodyPr anchor="t" rtlCol="false" tIns="0" lIns="0" bIns="0" rIns="0">
            <a:spAutoFit/>
          </a:bodyPr>
          <a:lstStyle/>
          <a:p>
            <a:pPr algn="l">
              <a:lnSpc>
                <a:spcPts val="6019"/>
              </a:lnSpc>
              <a:spcBef>
                <a:spcPct val="0"/>
              </a:spcBef>
            </a:pPr>
            <a:r>
              <a:rPr lang="en-US" sz="4299">
                <a:solidFill>
                  <a:srgbClr val="000000"/>
                </a:solidFill>
                <a:latin typeface="League Spartan"/>
                <a:ea typeface="League Spartan"/>
                <a:cs typeface="League Spartan"/>
                <a:sym typeface="League Spartan"/>
              </a:rPr>
              <a:t>FUTURE SCOPE &amp; LIMITATIONS</a:t>
            </a:r>
          </a:p>
        </p:txBody>
      </p:sp>
      <p:sp>
        <p:nvSpPr>
          <p:cNvPr name="TextBox 4" id="4"/>
          <p:cNvSpPr txBox="true"/>
          <p:nvPr/>
        </p:nvSpPr>
        <p:spPr>
          <a:xfrm rot="0">
            <a:off x="3168573" y="2314821"/>
            <a:ext cx="10924981" cy="834340"/>
          </a:xfrm>
          <a:prstGeom prst="rect">
            <a:avLst/>
          </a:prstGeom>
        </p:spPr>
        <p:txBody>
          <a:bodyPr anchor="t" rtlCol="false" tIns="0" lIns="0" bIns="0" rIns="0">
            <a:spAutoFit/>
          </a:bodyPr>
          <a:lstStyle/>
          <a:p>
            <a:pPr algn="l">
              <a:lnSpc>
                <a:spcPts val="3359"/>
              </a:lnSpc>
            </a:pPr>
            <a:r>
              <a:rPr lang="en-US" sz="2400">
                <a:solidFill>
                  <a:srgbClr val="000000"/>
                </a:solidFill>
                <a:latin typeface="Times New Roman"/>
                <a:ea typeface="Times New Roman"/>
                <a:cs typeface="Times New Roman"/>
                <a:sym typeface="Times New Roman"/>
              </a:rPr>
              <a:t>Tra</a:t>
            </a:r>
            <a:r>
              <a:rPr lang="en-US" sz="2400">
                <a:solidFill>
                  <a:srgbClr val="000000"/>
                </a:solidFill>
                <a:latin typeface="Times New Roman"/>
                <a:ea typeface="Times New Roman"/>
                <a:cs typeface="Times New Roman"/>
                <a:sym typeface="Times New Roman"/>
              </a:rPr>
              <a:t>nslating current architectural limitations into future development opportunities for advanced static estimation.</a:t>
            </a:r>
          </a:p>
        </p:txBody>
      </p:sp>
      <p:sp>
        <p:nvSpPr>
          <p:cNvPr name="TextBox 5" id="5"/>
          <p:cNvSpPr txBox="true"/>
          <p:nvPr/>
        </p:nvSpPr>
        <p:spPr>
          <a:xfrm rot="0">
            <a:off x="3168573" y="3453961"/>
            <a:ext cx="13331135" cy="6688364"/>
          </a:xfrm>
          <a:prstGeom prst="rect">
            <a:avLst/>
          </a:prstGeom>
        </p:spPr>
        <p:txBody>
          <a:bodyPr anchor="t" rtlCol="false" tIns="0" lIns="0" bIns="0" rIns="0">
            <a:spAutoFit/>
          </a:bodyPr>
          <a:lstStyle/>
          <a:p>
            <a:pPr algn="l" marL="632282" indent="-316141" lvl="1">
              <a:lnSpc>
                <a:spcPts val="4100"/>
              </a:lnSpc>
              <a:buFont typeface="Arial"/>
              <a:buChar char="•"/>
            </a:pPr>
            <a:r>
              <a:rPr lang="en-US" b="true" sz="2928">
                <a:solidFill>
                  <a:srgbClr val="000000"/>
                </a:solidFill>
                <a:latin typeface="Times New Roman Bold"/>
                <a:ea typeface="Times New Roman Bold"/>
                <a:cs typeface="Times New Roman Bold"/>
                <a:sym typeface="Times New Roman Bold"/>
              </a:rPr>
              <a:t>Symbolic Loop Analysis:</a:t>
            </a:r>
            <a:r>
              <a:rPr lang="en-US" sz="2928">
                <a:solidFill>
                  <a:srgbClr val="000000"/>
                </a:solidFill>
                <a:latin typeface="Times New Roman"/>
                <a:ea typeface="Times New Roman"/>
                <a:cs typeface="Times New Roman"/>
                <a:sym typeface="Times New Roman"/>
              </a:rPr>
              <a:t> Integrate LLVM ScalarEvolution to track a</a:t>
            </a:r>
            <a:r>
              <a:rPr lang="en-US" sz="2928">
                <a:solidFill>
                  <a:srgbClr val="000000"/>
                </a:solidFill>
                <a:latin typeface="Times New Roman"/>
                <a:ea typeface="Times New Roman"/>
                <a:cs typeface="Times New Roman"/>
                <a:sym typeface="Times New Roman"/>
              </a:rPr>
              <a:t>nd resolve dynamic trip counts, replacing fixed iteration defaults with precise symbolic bounds.</a:t>
            </a:r>
          </a:p>
          <a:p>
            <a:pPr algn="l" marL="632282" indent="-316141" lvl="1">
              <a:lnSpc>
                <a:spcPts val="4100"/>
              </a:lnSpc>
              <a:buFont typeface="Arial"/>
              <a:buChar char="•"/>
            </a:pPr>
            <a:r>
              <a:rPr lang="en-US" b="true" sz="2928">
                <a:solidFill>
                  <a:srgbClr val="000000"/>
                </a:solidFill>
                <a:latin typeface="Times New Roman Bold"/>
                <a:ea typeface="Times New Roman Bold"/>
                <a:cs typeface="Times New Roman Bold"/>
                <a:sym typeface="Times New Roman Bold"/>
              </a:rPr>
              <a:t>Inter-Block Memory Reuse Tracking:</a:t>
            </a:r>
            <a:r>
              <a:rPr lang="en-US" sz="2928">
                <a:solidFill>
                  <a:srgbClr val="000000"/>
                </a:solidFill>
                <a:latin typeface="Times New Roman"/>
                <a:ea typeface="Times New Roman"/>
                <a:cs typeface="Times New Roman"/>
                <a:sym typeface="Times New Roman"/>
              </a:rPr>
              <a:t> Expand the cache analysis framework across multiple basic blocks to significantly refine global memory miss-rate predictions.</a:t>
            </a:r>
          </a:p>
          <a:p>
            <a:pPr algn="l" marL="632282" indent="-316141" lvl="1">
              <a:lnSpc>
                <a:spcPts val="4100"/>
              </a:lnSpc>
              <a:buFont typeface="Arial"/>
              <a:buChar char="•"/>
            </a:pPr>
            <a:r>
              <a:rPr lang="en-US" b="true" sz="2928">
                <a:solidFill>
                  <a:srgbClr val="000000"/>
                </a:solidFill>
                <a:latin typeface="Times New Roman Bold"/>
                <a:ea typeface="Times New Roman Bold"/>
                <a:cs typeface="Times New Roman Bold"/>
                <a:sym typeface="Times New Roman Bold"/>
              </a:rPr>
              <a:t>Profile-Guided Branch Weights: </a:t>
            </a:r>
            <a:r>
              <a:rPr lang="en-US" sz="2928">
                <a:solidFill>
                  <a:srgbClr val="000000"/>
                </a:solidFill>
                <a:latin typeface="Times New Roman"/>
                <a:ea typeface="Times New Roman"/>
                <a:cs typeface="Times New Roman"/>
                <a:sym typeface="Times New Roman"/>
              </a:rPr>
              <a:t>Incorporate real-world program execution metadata into the optimization pipeline instead of relying on a static 10% branch misprediction heuristic.</a:t>
            </a:r>
          </a:p>
          <a:p>
            <a:pPr algn="l" marL="632282" indent="-316141" lvl="1">
              <a:lnSpc>
                <a:spcPts val="4100"/>
              </a:lnSpc>
              <a:buFont typeface="Arial"/>
              <a:buChar char="•"/>
            </a:pPr>
            <a:r>
              <a:rPr lang="en-US" b="true" sz="2928">
                <a:solidFill>
                  <a:srgbClr val="000000"/>
                </a:solidFill>
                <a:latin typeface="Times New Roman Bold"/>
                <a:ea typeface="Times New Roman Bold"/>
                <a:cs typeface="Times New Roman Bold"/>
                <a:sym typeface="Times New Roman Bold"/>
              </a:rPr>
              <a:t>Multi-Target ISA Extensions:</a:t>
            </a:r>
            <a:r>
              <a:rPr lang="en-US" sz="2928">
                <a:solidFill>
                  <a:srgbClr val="000000"/>
                </a:solidFill>
                <a:latin typeface="Times New Roman"/>
                <a:ea typeface="Times New Roman"/>
                <a:cs typeface="Times New Roman"/>
                <a:sym typeface="Times New Roman"/>
              </a:rPr>
              <a:t> Port and scale the YAML cost models to support broader hardware targets including rv32imac, rv64, and vector/floating-point pipelines.</a:t>
            </a:r>
          </a:p>
          <a:p>
            <a:pPr algn="l">
              <a:lnSpc>
                <a:spcPts val="4100"/>
              </a:lnSpc>
            </a:pPr>
          </a:p>
          <a:p>
            <a:pPr algn="l">
              <a:lnSpc>
                <a:spcPts val="410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320896" y="1486085"/>
            <a:ext cx="11927254" cy="1746349"/>
          </a:xfrm>
          <a:prstGeom prst="rect">
            <a:avLst/>
          </a:prstGeom>
        </p:spPr>
        <p:txBody>
          <a:bodyPr anchor="t" rtlCol="false" tIns="0" lIns="0" bIns="0" rIns="0">
            <a:spAutoFit/>
          </a:bodyPr>
          <a:lstStyle/>
          <a:p>
            <a:pPr algn="just">
              <a:lnSpc>
                <a:spcPts val="3499"/>
              </a:lnSpc>
              <a:spcBef>
                <a:spcPct val="0"/>
              </a:spcBef>
            </a:pPr>
            <a:r>
              <a:rPr lang="en-US" sz="2499">
                <a:solidFill>
                  <a:srgbClr val="000000"/>
                </a:solidFill>
                <a:latin typeface="Times New Roman"/>
                <a:ea typeface="Times New Roman"/>
                <a:cs typeface="Times New Roman"/>
                <a:sym typeface="Times New Roman"/>
              </a:rPr>
              <a:t>[1] N. G</a:t>
            </a:r>
            <a:r>
              <a:rPr lang="en-US" sz="2499">
                <a:solidFill>
                  <a:srgbClr val="000000"/>
                </a:solidFill>
                <a:latin typeface="Times New Roman"/>
                <a:ea typeface="Times New Roman"/>
                <a:cs typeface="Times New Roman"/>
                <a:sym typeface="Times New Roman"/>
              </a:rPr>
              <a:t>rech, K. Georgiou, J. Pallister, S. Kerrison, J. Morse, and K. Eder, “Static Analysis of Energy Consumption for LLVM IR Programs,” in Proceedings of the Workshop on Software Technologies for Embedded and Cyber-Physical Systems (SCOPES), ACM, 2015. Available: arXiv:1405.4565.</a:t>
            </a:r>
          </a:p>
        </p:txBody>
      </p:sp>
      <p:sp>
        <p:nvSpPr>
          <p:cNvPr name="TextBox 4" id="4"/>
          <p:cNvSpPr txBox="true"/>
          <p:nvPr/>
        </p:nvSpPr>
        <p:spPr>
          <a:xfrm rot="0">
            <a:off x="4347393" y="6091718"/>
            <a:ext cx="11927254" cy="870000"/>
          </a:xfrm>
          <a:prstGeom prst="rect">
            <a:avLst/>
          </a:prstGeom>
        </p:spPr>
        <p:txBody>
          <a:bodyPr anchor="t" rtlCol="false" tIns="0" lIns="0" bIns="0" rIns="0">
            <a:spAutoFit/>
          </a:bodyPr>
          <a:lstStyle/>
          <a:p>
            <a:pPr algn="just">
              <a:lnSpc>
                <a:spcPts val="3499"/>
              </a:lnSpc>
              <a:spcBef>
                <a:spcPct val="0"/>
              </a:spcBef>
            </a:pPr>
            <a:r>
              <a:rPr lang="en-US" sz="2499">
                <a:solidFill>
                  <a:srgbClr val="000000"/>
                </a:solidFill>
                <a:latin typeface="Times New Roman"/>
                <a:ea typeface="Times New Roman"/>
                <a:cs typeface="Times New Roman"/>
                <a:sym typeface="Times New Roman"/>
              </a:rPr>
              <a:t>[4] “Ev</a:t>
            </a:r>
            <a:r>
              <a:rPr lang="en-US" sz="2499">
                <a:solidFill>
                  <a:srgbClr val="000000"/>
                </a:solidFill>
                <a:latin typeface="Times New Roman"/>
                <a:ea typeface="Times New Roman"/>
                <a:cs typeface="Times New Roman"/>
                <a:sym typeface="Times New Roman"/>
              </a:rPr>
              <a:t>aluation of Run-Time Energy Efficiency using Controlled Approximation in a RISC-V Core,” arXiv preprint arXiv:2410.07027, 2024.</a:t>
            </a:r>
          </a:p>
        </p:txBody>
      </p:sp>
      <p:sp>
        <p:nvSpPr>
          <p:cNvPr name="TextBox 5" id="5"/>
          <p:cNvSpPr txBox="true"/>
          <p:nvPr/>
        </p:nvSpPr>
        <p:spPr>
          <a:xfrm rot="0">
            <a:off x="4347393" y="4993118"/>
            <a:ext cx="11927254" cy="870000"/>
          </a:xfrm>
          <a:prstGeom prst="rect">
            <a:avLst/>
          </a:prstGeom>
        </p:spPr>
        <p:txBody>
          <a:bodyPr anchor="t" rtlCol="false" tIns="0" lIns="0" bIns="0" rIns="0">
            <a:spAutoFit/>
          </a:bodyPr>
          <a:lstStyle/>
          <a:p>
            <a:pPr algn="just">
              <a:lnSpc>
                <a:spcPts val="3499"/>
              </a:lnSpc>
              <a:spcBef>
                <a:spcPct val="0"/>
              </a:spcBef>
            </a:pPr>
            <a:r>
              <a:rPr lang="en-US" sz="2499">
                <a:solidFill>
                  <a:srgbClr val="000000"/>
                </a:solidFill>
                <a:latin typeface="Times New Roman"/>
                <a:ea typeface="Times New Roman"/>
                <a:cs typeface="Times New Roman"/>
                <a:sym typeface="Times New Roman"/>
              </a:rPr>
              <a:t>[3] “LLM-</a:t>
            </a:r>
            <a:r>
              <a:rPr lang="en-US" sz="2499">
                <a:solidFill>
                  <a:srgbClr val="000000"/>
                </a:solidFill>
                <a:latin typeface="Times New Roman"/>
                <a:ea typeface="Times New Roman"/>
                <a:cs typeface="Times New Roman"/>
                <a:sym typeface="Times New Roman"/>
              </a:rPr>
              <a:t>assisted Performance Estimation of Embedded Software on RISC-V Processors,” Preprint, 2025.</a:t>
            </a:r>
          </a:p>
        </p:txBody>
      </p:sp>
      <p:sp>
        <p:nvSpPr>
          <p:cNvPr name="TextBox 6" id="6"/>
          <p:cNvSpPr txBox="true"/>
          <p:nvPr/>
        </p:nvSpPr>
        <p:spPr>
          <a:xfrm rot="0">
            <a:off x="4320896" y="3456344"/>
            <a:ext cx="11927254" cy="1308174"/>
          </a:xfrm>
          <a:prstGeom prst="rect">
            <a:avLst/>
          </a:prstGeom>
        </p:spPr>
        <p:txBody>
          <a:bodyPr anchor="t" rtlCol="false" tIns="0" lIns="0" bIns="0" rIns="0">
            <a:spAutoFit/>
          </a:bodyPr>
          <a:lstStyle/>
          <a:p>
            <a:pPr algn="just">
              <a:lnSpc>
                <a:spcPts val="3499"/>
              </a:lnSpc>
              <a:spcBef>
                <a:spcPct val="0"/>
              </a:spcBef>
            </a:pPr>
            <a:r>
              <a:rPr lang="en-US" sz="2499">
                <a:solidFill>
                  <a:srgbClr val="000000"/>
                </a:solidFill>
                <a:latin typeface="Times New Roman"/>
                <a:ea typeface="Times New Roman"/>
                <a:cs typeface="Times New Roman"/>
                <a:sym typeface="Times New Roman"/>
              </a:rPr>
              <a:t>[2] N. G</a:t>
            </a:r>
            <a:r>
              <a:rPr lang="en-US" sz="2499">
                <a:solidFill>
                  <a:srgbClr val="000000"/>
                </a:solidFill>
                <a:latin typeface="Times New Roman"/>
                <a:ea typeface="Times New Roman"/>
                <a:cs typeface="Times New Roman"/>
                <a:sym typeface="Times New Roman"/>
              </a:rPr>
              <a:t>rech et al., “Inferring Parametric Energy Consumption Functions at Different Software Levels: ISA vs. LLVM IR,” Formal Optimization and Runtime Aggregation (FOPARA), Springer LNCS.</a:t>
            </a:r>
          </a:p>
        </p:txBody>
      </p:sp>
      <p:sp>
        <p:nvSpPr>
          <p:cNvPr name="TextBox 7" id="7"/>
          <p:cNvSpPr txBox="true"/>
          <p:nvPr/>
        </p:nvSpPr>
        <p:spPr>
          <a:xfrm rot="0">
            <a:off x="4320896" y="7190318"/>
            <a:ext cx="11927254" cy="870000"/>
          </a:xfrm>
          <a:prstGeom prst="rect">
            <a:avLst/>
          </a:prstGeom>
        </p:spPr>
        <p:txBody>
          <a:bodyPr anchor="t" rtlCol="false" tIns="0" lIns="0" bIns="0" rIns="0">
            <a:spAutoFit/>
          </a:bodyPr>
          <a:lstStyle/>
          <a:p>
            <a:pPr algn="just">
              <a:lnSpc>
                <a:spcPts val="3499"/>
              </a:lnSpc>
              <a:spcBef>
                <a:spcPct val="0"/>
              </a:spcBef>
            </a:pPr>
            <a:r>
              <a:rPr lang="en-US" sz="2499">
                <a:solidFill>
                  <a:srgbClr val="000000"/>
                </a:solidFill>
                <a:latin typeface="Times New Roman"/>
                <a:ea typeface="Times New Roman"/>
                <a:cs typeface="Times New Roman"/>
                <a:sym typeface="Times New Roman"/>
              </a:rPr>
              <a:t>[5] A. V</a:t>
            </a:r>
            <a:r>
              <a:rPr lang="en-US" sz="2499">
                <a:solidFill>
                  <a:srgbClr val="000000"/>
                </a:solidFill>
                <a:latin typeface="Times New Roman"/>
                <a:ea typeface="Times New Roman"/>
                <a:cs typeface="Times New Roman"/>
                <a:sym typeface="Times New Roman"/>
              </a:rPr>
              <a:t>inco et al., “Integrating SystemC-AMS Power Modeling with a RISC-V ISS for Virtual Prototyping,” arXiv preprint arXiv:2404.01861, 2024.</a:t>
            </a:r>
          </a:p>
        </p:txBody>
      </p:sp>
      <p:sp>
        <p:nvSpPr>
          <p:cNvPr name="TextBox 8" id="8"/>
          <p:cNvSpPr txBox="true"/>
          <p:nvPr/>
        </p:nvSpPr>
        <p:spPr>
          <a:xfrm rot="0">
            <a:off x="4347393" y="8288917"/>
            <a:ext cx="11927254" cy="1308174"/>
          </a:xfrm>
          <a:prstGeom prst="rect">
            <a:avLst/>
          </a:prstGeom>
        </p:spPr>
        <p:txBody>
          <a:bodyPr anchor="t" rtlCol="false" tIns="0" lIns="0" bIns="0" rIns="0">
            <a:spAutoFit/>
          </a:bodyPr>
          <a:lstStyle/>
          <a:p>
            <a:pPr algn="just">
              <a:lnSpc>
                <a:spcPts val="3499"/>
              </a:lnSpc>
              <a:spcBef>
                <a:spcPct val="0"/>
              </a:spcBef>
            </a:pPr>
            <a:r>
              <a:rPr lang="en-US" sz="2499">
                <a:solidFill>
                  <a:srgbClr val="000000"/>
                </a:solidFill>
                <a:latin typeface="Times New Roman"/>
                <a:ea typeface="Times New Roman"/>
                <a:cs typeface="Times New Roman"/>
                <a:sym typeface="Times New Roman"/>
              </a:rPr>
              <a:t>[6] D. Yusuf,</a:t>
            </a:r>
            <a:r>
              <a:rPr lang="en-US" sz="2499">
                <a:solidFill>
                  <a:srgbClr val="000000"/>
                </a:solidFill>
                <a:latin typeface="Times New Roman"/>
                <a:ea typeface="Times New Roman"/>
                <a:cs typeface="Times New Roman"/>
                <a:sym typeface="Times New Roman"/>
              </a:rPr>
              <a:t> H. Ahmed, E. Onwuka, and Z. Suleiman, “IoT Processor Power Utilization Prediction Using Instruction-Dissection,” IEEE Access, vol. 12, 2024.reprint arXiv:2404.01861, 2024.</a:t>
            </a:r>
          </a:p>
        </p:txBody>
      </p:sp>
      <p:sp>
        <p:nvSpPr>
          <p:cNvPr name="TextBox 9" id="9"/>
          <p:cNvSpPr txBox="true"/>
          <p:nvPr/>
        </p:nvSpPr>
        <p:spPr>
          <a:xfrm rot="0">
            <a:off x="4644746" y="511354"/>
            <a:ext cx="3637438" cy="1500505"/>
          </a:xfrm>
          <a:prstGeom prst="rect">
            <a:avLst/>
          </a:prstGeom>
        </p:spPr>
        <p:txBody>
          <a:bodyPr anchor="t" rtlCol="false" tIns="0" lIns="0" bIns="0" rIns="0">
            <a:spAutoFit/>
          </a:bodyPr>
          <a:lstStyle/>
          <a:p>
            <a:pPr algn="l">
              <a:lnSpc>
                <a:spcPts val="6019"/>
              </a:lnSpc>
              <a:spcBef>
                <a:spcPct val="0"/>
              </a:spcBef>
            </a:pPr>
            <a:r>
              <a:rPr lang="en-US" sz="4299">
                <a:solidFill>
                  <a:srgbClr val="000000"/>
                </a:solidFill>
                <a:latin typeface="League Spartan"/>
                <a:ea typeface="League Spartan"/>
                <a:cs typeface="League Spartan"/>
                <a:sym typeface="League Spartan"/>
              </a:rPr>
              <a:t>Refe</a:t>
            </a:r>
            <a:r>
              <a:rPr lang="en-US" sz="4299">
                <a:solidFill>
                  <a:srgbClr val="000000"/>
                </a:solidFill>
                <a:latin typeface="League Spartan"/>
                <a:ea typeface="League Spartan"/>
                <a:cs typeface="League Spartan"/>
                <a:sym typeface="League Spartan"/>
              </a:rPr>
              <a:t>rences</a:t>
            </a:r>
          </a:p>
          <a:p>
            <a:pPr algn="l">
              <a:lnSpc>
                <a:spcPts val="601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297889" y="3547745"/>
            <a:ext cx="8286373" cy="1668060"/>
          </a:xfrm>
          <a:prstGeom prst="rect">
            <a:avLst/>
          </a:prstGeom>
        </p:spPr>
        <p:txBody>
          <a:bodyPr anchor="t" rtlCol="false" tIns="0" lIns="0" bIns="0" rIns="0">
            <a:spAutoFit/>
          </a:bodyPr>
          <a:lstStyle/>
          <a:p>
            <a:pPr algn="l">
              <a:lnSpc>
                <a:spcPts val="13714"/>
              </a:lnSpc>
              <a:spcBef>
                <a:spcPct val="0"/>
              </a:spcBef>
            </a:pPr>
            <a:r>
              <a:rPr lang="en-US" sz="9795">
                <a:solidFill>
                  <a:srgbClr val="000000"/>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DAHLLD9GpRw</dc:identifier>
  <dcterms:modified xsi:type="dcterms:W3CDTF">2011-08-01T06:04:30Z</dcterms:modified>
  <cp:revision>1</cp:revision>
  <dc:title>CD of 6th sem EL</dc:title>
</cp:coreProperties>
</file>